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DM Sans" charset="1" panose="00000000000000000000"/>
      <p:regular r:id="rId26"/>
    </p:embeddedFont>
    <p:embeddedFont>
      <p:font typeface="DM Sans Bold" charset="1" panose="00000000000000000000"/>
      <p:regular r:id="rId27"/>
    </p:embeddedFont>
    <p:embeddedFont>
      <p:font typeface="DM Sans Italics" charset="1" panose="00000000000000000000"/>
      <p:regular r:id="rId28"/>
    </p:embeddedFont>
    <p:embeddedFont>
      <p:font typeface="JetBrains Mono" charset="1" panose="02010509020102050004"/>
      <p:regular r:id="rId29"/>
    </p:embeddedFont>
    <p:embeddedFont>
      <p:font typeface="JetBrains Mono Bold" charset="1" panose="0201080903010205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3253392" y="2651238"/>
            <a:ext cx="11781216" cy="398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4"/>
              </a:lnSpc>
            </a:pPr>
            <a:r>
              <a:rPr lang="en-US" b="true" sz="11453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INTRODUCCIÓN A ARBOLES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4776997" y="2027531"/>
            <a:ext cx="6334354" cy="104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1"/>
              </a:lnSpc>
            </a:pPr>
            <a:r>
              <a:rPr lang="en-US" b="true" sz="6157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INDICE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132935" y="3673479"/>
            <a:ext cx="9601942" cy="354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0698" indent="-435349" lvl="1">
              <a:lnSpc>
                <a:spcPts val="5646"/>
              </a:lnSpc>
              <a:buAutoNum type="arabicPeriod" startAt="1"/>
            </a:pPr>
            <a:r>
              <a:rPr lang="en-US" sz="4032" spc="306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Que son</a:t>
            </a:r>
          </a:p>
          <a:p>
            <a:pPr algn="l" marL="870698" indent="-435349" lvl="1">
              <a:lnSpc>
                <a:spcPts val="5646"/>
              </a:lnSpc>
              <a:buAutoNum type="arabicPeriod" startAt="1"/>
            </a:pPr>
            <a:r>
              <a:rPr lang="en-US" sz="4032" spc="306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Como se llaman sus partes</a:t>
            </a:r>
          </a:p>
          <a:p>
            <a:pPr algn="l" marL="870698" indent="-435349" lvl="1">
              <a:lnSpc>
                <a:spcPts val="5646"/>
              </a:lnSpc>
              <a:buAutoNum type="arabicPeriod" startAt="1"/>
            </a:pPr>
            <a:r>
              <a:rPr lang="en-US" sz="4032" spc="306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Como se diferencian</a:t>
            </a:r>
          </a:p>
          <a:p>
            <a:pPr algn="l" marL="870698" indent="-435349" lvl="1">
              <a:lnSpc>
                <a:spcPts val="5646"/>
              </a:lnSpc>
              <a:buAutoNum type="arabicPeriod" startAt="1"/>
            </a:pPr>
            <a:r>
              <a:rPr lang="en-US" sz="4032" spc="306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Como se crean</a:t>
            </a:r>
          </a:p>
          <a:p>
            <a:pPr algn="l" marL="870698" indent="-435349" lvl="1">
              <a:lnSpc>
                <a:spcPts val="5646"/>
              </a:lnSpc>
              <a:buAutoNum type="arabicPeriod" startAt="1"/>
            </a:pPr>
            <a:r>
              <a:rPr lang="en-US" sz="4032" spc="310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Un reto practico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344153" y="360263"/>
            <a:ext cx="17974619" cy="9753214"/>
            <a:chOff x="0" y="0"/>
            <a:chExt cx="23966158" cy="130042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985303"/>
              <a:ext cx="64740" cy="5018983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7055929" y="5948356"/>
              <a:ext cx="64740" cy="14047119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901419" y="0"/>
              <a:ext cx="64740" cy="5018983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845490" y="-6991190"/>
              <a:ext cx="64740" cy="14047119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3405365" y="421373"/>
              <a:ext cx="64740" cy="1702056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532091" y="-2425364"/>
              <a:ext cx="64740" cy="5758212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96054" y="10880857"/>
              <a:ext cx="64740" cy="1702056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69328" y="9671438"/>
              <a:ext cx="64740" cy="5758212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817545" y="-569004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305378" y="117157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EL PROBLEMA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7186017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La jerarquía en los datos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9200" y="2857500"/>
            <a:ext cx="7239000" cy="5715000"/>
            <a:chOff x="0" y="0"/>
            <a:chExt cx="9652000" cy="7620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652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9652000">
                  <a:moveTo>
                    <a:pt x="0" y="293116"/>
                  </a:moveTo>
                  <a:cubicBezTo>
                    <a:pt x="0" y="131191"/>
                    <a:pt x="131191" y="0"/>
                    <a:pt x="293116" y="0"/>
                  </a:cubicBezTo>
                  <a:lnTo>
                    <a:pt x="9358884" y="0"/>
                  </a:lnTo>
                  <a:cubicBezTo>
                    <a:pt x="9520809" y="0"/>
                    <a:pt x="9652000" y="131191"/>
                    <a:pt x="9652000" y="293116"/>
                  </a:cubicBezTo>
                  <a:lnTo>
                    <a:pt x="9652000" y="7326884"/>
                  </a:lnTo>
                  <a:cubicBezTo>
                    <a:pt x="9652000" y="7488682"/>
                    <a:pt x="9520809" y="7620000"/>
                    <a:pt x="9358884" y="7620000"/>
                  </a:cubicBezTo>
                  <a:lnTo>
                    <a:pt x="293116" y="7620000"/>
                  </a:lnTo>
                  <a:cubicBezTo>
                    <a:pt x="131191" y="7620000"/>
                    <a:pt x="0" y="7488809"/>
                    <a:pt x="0" y="7326884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D9D6C8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619250" y="3209925"/>
            <a:ext cx="6632067" cy="56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Como lista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619250" y="3870874"/>
            <a:ext cx="6438900" cy="628650"/>
            <a:chOff x="0" y="0"/>
            <a:chExt cx="8585200" cy="838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85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585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432800" y="0"/>
                  </a:lnTo>
                  <a:cubicBezTo>
                    <a:pt x="8517001" y="0"/>
                    <a:pt x="8585200" y="68199"/>
                    <a:pt x="8585200" y="152400"/>
                  </a:cubicBezTo>
                  <a:lnTo>
                    <a:pt x="8585200" y="685800"/>
                  </a:lnTo>
                  <a:cubicBezTo>
                    <a:pt x="8585200" y="770001"/>
                    <a:pt x="8517001" y="838200"/>
                    <a:pt x="843280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close/>
                </a:path>
              </a:pathLst>
            </a:custGeom>
            <a:solidFill>
              <a:srgbClr val="EFEBDD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585200" cy="885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3E526A"/>
                  </a:solidFill>
                  <a:latin typeface="DM Sans"/>
                  <a:ea typeface="DM Sans"/>
                  <a:cs typeface="DM Sans"/>
                  <a:sym typeface="DM Sans"/>
                </a:rPr>
                <a:t>Documentos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19250" y="4632874"/>
            <a:ext cx="6438900" cy="628650"/>
            <a:chOff x="0" y="0"/>
            <a:chExt cx="8585200" cy="838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585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585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432800" y="0"/>
                  </a:lnTo>
                  <a:cubicBezTo>
                    <a:pt x="8517001" y="0"/>
                    <a:pt x="8585200" y="68199"/>
                    <a:pt x="8585200" y="152400"/>
                  </a:cubicBezTo>
                  <a:lnTo>
                    <a:pt x="8585200" y="685800"/>
                  </a:lnTo>
                  <a:cubicBezTo>
                    <a:pt x="8585200" y="770001"/>
                    <a:pt x="8517001" y="838200"/>
                    <a:pt x="843280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close/>
                </a:path>
              </a:pathLst>
            </a:custGeom>
            <a:solidFill>
              <a:srgbClr val="EFEBD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585200" cy="885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3E526A"/>
                  </a:solidFill>
                  <a:latin typeface="DM Sans"/>
                  <a:ea typeface="DM Sans"/>
                  <a:cs typeface="DM Sans"/>
                  <a:sym typeface="DM Sans"/>
                </a:rPr>
                <a:t>Universidad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19250" y="5394874"/>
            <a:ext cx="6438900" cy="628650"/>
            <a:chOff x="0" y="0"/>
            <a:chExt cx="8585200" cy="838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85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585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432800" y="0"/>
                  </a:lnTo>
                  <a:cubicBezTo>
                    <a:pt x="8517001" y="0"/>
                    <a:pt x="8585200" y="68199"/>
                    <a:pt x="8585200" y="152400"/>
                  </a:cubicBezTo>
                  <a:lnTo>
                    <a:pt x="8585200" y="685800"/>
                  </a:lnTo>
                  <a:cubicBezTo>
                    <a:pt x="8585200" y="770001"/>
                    <a:pt x="8517001" y="838200"/>
                    <a:pt x="843280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close/>
                </a:path>
              </a:pathLst>
            </a:custGeom>
            <a:solidFill>
              <a:srgbClr val="EFEBDD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585200" cy="885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3E526A"/>
                  </a:solidFill>
                  <a:latin typeface="DM Sans"/>
                  <a:ea typeface="DM Sans"/>
                  <a:cs typeface="DM Sans"/>
                  <a:sym typeface="DM Sans"/>
                </a:rPr>
                <a:t>Datos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19250" y="6156874"/>
            <a:ext cx="6438900" cy="628650"/>
            <a:chOff x="0" y="0"/>
            <a:chExt cx="8585200" cy="838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585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585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432800" y="0"/>
                  </a:lnTo>
                  <a:cubicBezTo>
                    <a:pt x="8517001" y="0"/>
                    <a:pt x="8585200" y="68199"/>
                    <a:pt x="8585200" y="152400"/>
                  </a:cubicBezTo>
                  <a:lnTo>
                    <a:pt x="8585200" y="685800"/>
                  </a:lnTo>
                  <a:cubicBezTo>
                    <a:pt x="8585200" y="770001"/>
                    <a:pt x="8517001" y="838200"/>
                    <a:pt x="843280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close/>
                </a:path>
              </a:pathLst>
            </a:custGeom>
            <a:solidFill>
              <a:srgbClr val="EFEBDD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8585200" cy="885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3E526A"/>
                  </a:solidFill>
                  <a:latin typeface="DM Sans"/>
                  <a:ea typeface="DM Sans"/>
                  <a:cs typeface="DM Sans"/>
                  <a:sym typeface="DM Sans"/>
                </a:rPr>
                <a:t>Cálculo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19250" y="6918874"/>
            <a:ext cx="6438900" cy="628650"/>
            <a:chOff x="0" y="0"/>
            <a:chExt cx="8585200" cy="838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85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585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432800" y="0"/>
                  </a:lnTo>
                  <a:cubicBezTo>
                    <a:pt x="8517001" y="0"/>
                    <a:pt x="8585200" y="68199"/>
                    <a:pt x="8585200" y="152400"/>
                  </a:cubicBezTo>
                  <a:lnTo>
                    <a:pt x="8585200" y="685800"/>
                  </a:lnTo>
                  <a:cubicBezTo>
                    <a:pt x="8585200" y="770001"/>
                    <a:pt x="8517001" y="838200"/>
                    <a:pt x="8432800" y="838200"/>
                  </a:cubicBezTo>
                  <a:lnTo>
                    <a:pt x="152400" y="838200"/>
                  </a:lnTo>
                  <a:cubicBezTo>
                    <a:pt x="68199" y="838200"/>
                    <a:pt x="0" y="770001"/>
                    <a:pt x="0" y="685800"/>
                  </a:cubicBezTo>
                  <a:close/>
                </a:path>
              </a:pathLst>
            </a:custGeom>
            <a:solidFill>
              <a:srgbClr val="EFEBDD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8585200" cy="885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3E526A"/>
                  </a:solidFill>
                  <a:latin typeface="DM Sans"/>
                  <a:ea typeface="DM Sans"/>
                  <a:cs typeface="DM Sans"/>
                  <a:sym typeface="DM Sans"/>
                </a:rPr>
                <a:t>Fotos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619250" y="7652299"/>
            <a:ext cx="6632067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No se ve qué carpeta está dentro de cuál.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8839200" y="2857500"/>
            <a:ext cx="8229600" cy="5715000"/>
            <a:chOff x="0" y="0"/>
            <a:chExt cx="10972800" cy="7620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972800">
                  <a:moveTo>
                    <a:pt x="0" y="293116"/>
                  </a:moveTo>
                  <a:cubicBezTo>
                    <a:pt x="0" y="131191"/>
                    <a:pt x="131191" y="0"/>
                    <a:pt x="293116" y="0"/>
                  </a:cubicBezTo>
                  <a:lnTo>
                    <a:pt x="10679684" y="0"/>
                  </a:lnTo>
                  <a:cubicBezTo>
                    <a:pt x="10841609" y="0"/>
                    <a:pt x="10972800" y="131191"/>
                    <a:pt x="10972800" y="293116"/>
                  </a:cubicBezTo>
                  <a:lnTo>
                    <a:pt x="10972800" y="7326884"/>
                  </a:lnTo>
                  <a:cubicBezTo>
                    <a:pt x="10972800" y="7488682"/>
                    <a:pt x="10841609" y="7620000"/>
                    <a:pt x="10679684" y="7620000"/>
                  </a:cubicBezTo>
                  <a:lnTo>
                    <a:pt x="293116" y="7620000"/>
                  </a:lnTo>
                  <a:cubicBezTo>
                    <a:pt x="131191" y="7620000"/>
                    <a:pt x="0" y="7488809"/>
                    <a:pt x="0" y="7326884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D9D6C8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9220200" y="3190875"/>
            <a:ext cx="5886450" cy="56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Como árbol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191875" y="4514850"/>
            <a:ext cx="1857375" cy="1200150"/>
            <a:chOff x="0" y="0"/>
            <a:chExt cx="2476500" cy="1600200"/>
          </a:xfrm>
        </p:grpSpPr>
        <p:sp>
          <p:nvSpPr>
            <p:cNvPr name="Freeform 79" id="79" descr="connector"/>
            <p:cNvSpPr/>
            <p:nvPr/>
          </p:nvSpPr>
          <p:spPr>
            <a:xfrm flipH="false" flipV="false" rot="0">
              <a:off x="0" y="0"/>
              <a:ext cx="24765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858750" y="4514850"/>
            <a:ext cx="2095500" cy="1200150"/>
            <a:chOff x="0" y="0"/>
            <a:chExt cx="2794000" cy="1600200"/>
          </a:xfrm>
        </p:grpSpPr>
        <p:sp>
          <p:nvSpPr>
            <p:cNvPr name="Freeform 81" id="81" descr="connector"/>
            <p:cNvSpPr/>
            <p:nvPr/>
          </p:nvSpPr>
          <p:spPr>
            <a:xfrm flipH="false" flipV="false" rot="0">
              <a:off x="0" y="0"/>
              <a:ext cx="279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239375" y="6134100"/>
            <a:ext cx="1143000" cy="1200150"/>
            <a:chOff x="0" y="0"/>
            <a:chExt cx="1524000" cy="1600200"/>
          </a:xfrm>
        </p:grpSpPr>
        <p:sp>
          <p:nvSpPr>
            <p:cNvPr name="Freeform 83" id="83" descr="connector"/>
            <p:cNvSpPr/>
            <p:nvPr/>
          </p:nvSpPr>
          <p:spPr>
            <a:xfrm flipH="false" flipV="false" rot="0">
              <a:off x="0" y="0"/>
              <a:ext cx="152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191875" y="6134100"/>
            <a:ext cx="1143000" cy="1200150"/>
            <a:chOff x="0" y="0"/>
            <a:chExt cx="1524000" cy="1600200"/>
          </a:xfrm>
        </p:grpSpPr>
        <p:sp>
          <p:nvSpPr>
            <p:cNvPr name="Freeform 85" id="85" descr="connector"/>
            <p:cNvSpPr/>
            <p:nvPr/>
          </p:nvSpPr>
          <p:spPr>
            <a:xfrm flipH="false" flipV="false" rot="0">
              <a:off x="0" y="0"/>
              <a:ext cx="1524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600200"/>
                  </a:lnTo>
                  <a:lnTo>
                    <a:pt x="0" y="160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715750" y="4000500"/>
            <a:ext cx="2476500" cy="609600"/>
            <a:chOff x="0" y="0"/>
            <a:chExt cx="33020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02000" cy="812800"/>
            </a:xfrm>
            <a:custGeom>
              <a:avLst/>
              <a:gdLst/>
              <a:ahLst/>
              <a:cxnLst/>
              <a:rect r="r" b="b" t="t" l="l"/>
              <a:pathLst>
                <a:path h="812800" w="3302000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3131566" y="0"/>
                  </a:lnTo>
                  <a:cubicBezTo>
                    <a:pt x="3225673" y="0"/>
                    <a:pt x="3302000" y="76327"/>
                    <a:pt x="3302000" y="170434"/>
                  </a:cubicBezTo>
                  <a:lnTo>
                    <a:pt x="3302000" y="642366"/>
                  </a:lnTo>
                  <a:cubicBezTo>
                    <a:pt x="3302000" y="736473"/>
                    <a:pt x="3225673" y="812800"/>
                    <a:pt x="3131566" y="812800"/>
                  </a:cubicBezTo>
                  <a:lnTo>
                    <a:pt x="170434" y="812800"/>
                  </a:lnTo>
                  <a:cubicBezTo>
                    <a:pt x="76327" y="812800"/>
                    <a:pt x="0" y="736473"/>
                    <a:pt x="0" y="642366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3020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Documentos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39375" y="5619750"/>
            <a:ext cx="2095500" cy="609600"/>
            <a:chOff x="0" y="0"/>
            <a:chExt cx="27940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794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94000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2623566" y="0"/>
                  </a:lnTo>
                  <a:cubicBezTo>
                    <a:pt x="2717673" y="0"/>
                    <a:pt x="2794000" y="76327"/>
                    <a:pt x="2794000" y="170434"/>
                  </a:cubicBezTo>
                  <a:lnTo>
                    <a:pt x="2794000" y="642366"/>
                  </a:lnTo>
                  <a:cubicBezTo>
                    <a:pt x="2794000" y="736473"/>
                    <a:pt x="2717673" y="812800"/>
                    <a:pt x="2623566" y="812800"/>
                  </a:cubicBezTo>
                  <a:lnTo>
                    <a:pt x="170434" y="812800"/>
                  </a:lnTo>
                  <a:cubicBezTo>
                    <a:pt x="76327" y="812800"/>
                    <a:pt x="0" y="736473"/>
                    <a:pt x="0" y="642366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7940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Universidad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906500" y="5619750"/>
            <a:ext cx="1905000" cy="609600"/>
            <a:chOff x="0" y="0"/>
            <a:chExt cx="2540000" cy="812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40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540000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2369566" y="0"/>
                  </a:lnTo>
                  <a:cubicBezTo>
                    <a:pt x="2463673" y="0"/>
                    <a:pt x="2540000" y="76327"/>
                    <a:pt x="2540000" y="170434"/>
                  </a:cubicBezTo>
                  <a:lnTo>
                    <a:pt x="2540000" y="642366"/>
                  </a:lnTo>
                  <a:cubicBezTo>
                    <a:pt x="2540000" y="736473"/>
                    <a:pt x="2463673" y="812800"/>
                    <a:pt x="2369566" y="812800"/>
                  </a:cubicBezTo>
                  <a:lnTo>
                    <a:pt x="170434" y="812800"/>
                  </a:lnTo>
                  <a:cubicBezTo>
                    <a:pt x="76327" y="812800"/>
                    <a:pt x="0" y="736473"/>
                    <a:pt x="0" y="642366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5400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Fotos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29750" y="7239000"/>
            <a:ext cx="1809750" cy="609600"/>
            <a:chOff x="0" y="0"/>
            <a:chExt cx="2413000" cy="812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13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413000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2242566" y="0"/>
                  </a:lnTo>
                  <a:cubicBezTo>
                    <a:pt x="2336673" y="0"/>
                    <a:pt x="2413000" y="76327"/>
                    <a:pt x="2413000" y="170434"/>
                  </a:cubicBezTo>
                  <a:lnTo>
                    <a:pt x="2413000" y="642366"/>
                  </a:lnTo>
                  <a:cubicBezTo>
                    <a:pt x="2413000" y="736473"/>
                    <a:pt x="2336673" y="812800"/>
                    <a:pt x="2242566" y="812800"/>
                  </a:cubicBezTo>
                  <a:lnTo>
                    <a:pt x="170434" y="812800"/>
                  </a:lnTo>
                  <a:cubicBezTo>
                    <a:pt x="76327" y="812800"/>
                    <a:pt x="0" y="736473"/>
                    <a:pt x="0" y="642366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4130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Datos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334750" y="7239000"/>
            <a:ext cx="1809750" cy="609600"/>
            <a:chOff x="0" y="0"/>
            <a:chExt cx="2413000" cy="812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13000" cy="812800"/>
            </a:xfrm>
            <a:custGeom>
              <a:avLst/>
              <a:gdLst/>
              <a:ahLst/>
              <a:cxnLst/>
              <a:rect r="r" b="b" t="t" l="l"/>
              <a:pathLst>
                <a:path h="812800" w="2413000">
                  <a:moveTo>
                    <a:pt x="0" y="170434"/>
                  </a:moveTo>
                  <a:cubicBezTo>
                    <a:pt x="0" y="76327"/>
                    <a:pt x="76327" y="0"/>
                    <a:pt x="170434" y="0"/>
                  </a:cubicBezTo>
                  <a:lnTo>
                    <a:pt x="2242566" y="0"/>
                  </a:lnTo>
                  <a:cubicBezTo>
                    <a:pt x="2336673" y="0"/>
                    <a:pt x="2413000" y="76327"/>
                    <a:pt x="2413000" y="170434"/>
                  </a:cubicBezTo>
                  <a:lnTo>
                    <a:pt x="2413000" y="642366"/>
                  </a:lnTo>
                  <a:cubicBezTo>
                    <a:pt x="2413000" y="736473"/>
                    <a:pt x="2336673" y="812800"/>
                    <a:pt x="2242566" y="812800"/>
                  </a:cubicBezTo>
                  <a:lnTo>
                    <a:pt x="170434" y="812800"/>
                  </a:lnTo>
                  <a:cubicBezTo>
                    <a:pt x="76327" y="812800"/>
                    <a:pt x="0" y="736473"/>
                    <a:pt x="0" y="642366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24130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Cálculo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9220200" y="8029575"/>
            <a:ext cx="769162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Cada carpeta cuelga de una sola carpeta.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696875" y="-813192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28725" y="1499530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09675" y="1960455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¿Qué es un árbol?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9200" y="2783329"/>
            <a:ext cx="7800003" cy="201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Un árbol es una </a:t>
            </a:r>
            <a:r>
              <a:rPr lang="en-US" b="true" sz="3000">
                <a:solidFill>
                  <a:srgbClr val="3E526A"/>
                </a:solidFill>
                <a:latin typeface="DM Sans Bold"/>
                <a:ea typeface="DM Sans Bold"/>
                <a:cs typeface="DM Sans Bold"/>
                <a:sym typeface="DM Sans Bold"/>
              </a:rPr>
              <a:t>estructura jerárquica</a:t>
            </a:r>
            <a:r>
              <a:rPr lang="en-US" sz="300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: tiene una raíz, y todo nodo, menos la raíz, tiene exactamente un padre.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09675" y="5015474"/>
            <a:ext cx="7819053" cy="1189050"/>
            <a:chOff x="0" y="0"/>
            <a:chExt cx="10425405" cy="158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25302" cy="1585337"/>
            </a:xfrm>
            <a:custGeom>
              <a:avLst/>
              <a:gdLst/>
              <a:ahLst/>
              <a:cxnLst/>
              <a:rect r="r" b="b" t="t" l="l"/>
              <a:pathLst>
                <a:path h="1585337" w="1042530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lnTo>
                    <a:pt x="10266807" y="0"/>
                  </a:lnTo>
                  <a:cubicBezTo>
                    <a:pt x="10354310" y="0"/>
                    <a:pt x="10425302" y="70993"/>
                    <a:pt x="10425302" y="158496"/>
                  </a:cubicBezTo>
                  <a:lnTo>
                    <a:pt x="10425302" y="1426841"/>
                  </a:lnTo>
                  <a:cubicBezTo>
                    <a:pt x="10425302" y="1514344"/>
                    <a:pt x="10354310" y="1585337"/>
                    <a:pt x="10266807" y="1585337"/>
                  </a:cubicBezTo>
                  <a:lnTo>
                    <a:pt x="158496" y="1585337"/>
                  </a:lnTo>
                  <a:cubicBezTo>
                    <a:pt x="70993" y="1585337"/>
                    <a:pt x="0" y="1514471"/>
                    <a:pt x="0" y="1426841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425405" cy="163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Conexo</a:t>
              </a:r>
            </a:p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Desde la raíz se llega a todos los nodos.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9675" y="6410477"/>
            <a:ext cx="7819053" cy="1189050"/>
            <a:chOff x="0" y="0"/>
            <a:chExt cx="10425405" cy="1585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25302" cy="1585337"/>
            </a:xfrm>
            <a:custGeom>
              <a:avLst/>
              <a:gdLst/>
              <a:ahLst/>
              <a:cxnLst/>
              <a:rect r="r" b="b" t="t" l="l"/>
              <a:pathLst>
                <a:path h="1585337" w="1042530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lnTo>
                    <a:pt x="10266807" y="0"/>
                  </a:lnTo>
                  <a:cubicBezTo>
                    <a:pt x="10354310" y="0"/>
                    <a:pt x="10425302" y="70993"/>
                    <a:pt x="10425302" y="158496"/>
                  </a:cubicBezTo>
                  <a:lnTo>
                    <a:pt x="10425302" y="1426841"/>
                  </a:lnTo>
                  <a:cubicBezTo>
                    <a:pt x="10425302" y="1514344"/>
                    <a:pt x="10354310" y="1585337"/>
                    <a:pt x="10266807" y="1585337"/>
                  </a:cubicBezTo>
                  <a:lnTo>
                    <a:pt x="158496" y="1585337"/>
                  </a:lnTo>
                  <a:cubicBezTo>
                    <a:pt x="70993" y="1585337"/>
                    <a:pt x="0" y="1514471"/>
                    <a:pt x="0" y="1426841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425405" cy="163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Sin ciclos</a:t>
              </a:r>
            </a:p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De la raíz a cada nodo hay un solo camino.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19200" y="7902378"/>
            <a:ext cx="7800003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A6A64"/>
                </a:solidFill>
                <a:latin typeface="DM Sans"/>
                <a:ea typeface="DM Sans"/>
                <a:cs typeface="DM Sans"/>
                <a:sym typeface="DM Sans"/>
              </a:rPr>
              <a:t>En grafos se dice vértice: nodo y vértice significan lo mismo.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740475" y="2840479"/>
            <a:ext cx="3766195" cy="5269049"/>
            <a:chOff x="0" y="0"/>
            <a:chExt cx="5021593" cy="702539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21580" cy="7025386"/>
            </a:xfrm>
            <a:custGeom>
              <a:avLst/>
              <a:gdLst/>
              <a:ahLst/>
              <a:cxnLst/>
              <a:rect r="r" b="b" t="t" l="l"/>
              <a:pathLst>
                <a:path h="7025386" w="5021580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lnTo>
                    <a:pt x="4770501" y="0"/>
                  </a:lnTo>
                  <a:cubicBezTo>
                    <a:pt x="4909185" y="0"/>
                    <a:pt x="5021580" y="112395"/>
                    <a:pt x="5021580" y="251079"/>
                  </a:cubicBezTo>
                  <a:lnTo>
                    <a:pt x="5021580" y="6774307"/>
                  </a:lnTo>
                  <a:cubicBezTo>
                    <a:pt x="5021580" y="6912990"/>
                    <a:pt x="4909185" y="7025386"/>
                    <a:pt x="4770501" y="7025386"/>
                  </a:cubicBezTo>
                  <a:lnTo>
                    <a:pt x="251079" y="7025386"/>
                  </a:lnTo>
                  <a:cubicBezTo>
                    <a:pt x="112395" y="7025386"/>
                    <a:pt x="0" y="6912991"/>
                    <a:pt x="0" y="6774307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787618" y="2840479"/>
            <a:ext cx="3766195" cy="5269049"/>
            <a:chOff x="0" y="0"/>
            <a:chExt cx="5021593" cy="702539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21580" cy="7025386"/>
            </a:xfrm>
            <a:custGeom>
              <a:avLst/>
              <a:gdLst/>
              <a:ahLst/>
              <a:cxnLst/>
              <a:rect r="r" b="b" t="t" l="l"/>
              <a:pathLst>
                <a:path h="7025386" w="5021580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lnTo>
                    <a:pt x="4770501" y="0"/>
                  </a:lnTo>
                  <a:cubicBezTo>
                    <a:pt x="4909185" y="0"/>
                    <a:pt x="5021580" y="112395"/>
                    <a:pt x="5021580" y="251079"/>
                  </a:cubicBezTo>
                  <a:lnTo>
                    <a:pt x="5021580" y="6774307"/>
                  </a:lnTo>
                  <a:cubicBezTo>
                    <a:pt x="5021580" y="6912990"/>
                    <a:pt x="4909185" y="7025386"/>
                    <a:pt x="4770501" y="7025386"/>
                  </a:cubicBezTo>
                  <a:lnTo>
                    <a:pt x="251079" y="7025386"/>
                  </a:lnTo>
                  <a:cubicBezTo>
                    <a:pt x="112395" y="7025386"/>
                    <a:pt x="0" y="6912991"/>
                    <a:pt x="0" y="6774307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5A6A64"/>
              </a:solidFill>
              <a:prstDash val="dash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9750000" y="2997375"/>
            <a:ext cx="3747145" cy="49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Sí es árbol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97143" y="2997375"/>
            <a:ext cx="3747145" cy="49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 es árbol</a:t>
            </a:r>
          </a:p>
        </p:txBody>
      </p:sp>
      <p:sp>
        <p:nvSpPr>
          <p:cNvPr name="AutoShape 70" id="70"/>
          <p:cNvSpPr/>
          <p:nvPr/>
        </p:nvSpPr>
        <p:spPr>
          <a:xfrm rot="7624980">
            <a:off x="10403567" y="4790475"/>
            <a:ext cx="15400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3175019">
            <a:off x="11303565" y="4790475"/>
            <a:ext cx="15400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5320079">
            <a:off x="10109121" y="5990473"/>
            <a:ext cx="1228906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11219288" y="3795712"/>
            <a:ext cx="808577" cy="808577"/>
            <a:chOff x="0" y="0"/>
            <a:chExt cx="1078103" cy="10781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17415F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319280" y="4995710"/>
            <a:ext cx="808577" cy="808577"/>
            <a:chOff x="0" y="0"/>
            <a:chExt cx="1078103" cy="107810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119286" y="4995710"/>
            <a:ext cx="808577" cy="808577"/>
            <a:chOff x="0" y="0"/>
            <a:chExt cx="1078103" cy="107810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319280" y="6195717"/>
            <a:ext cx="808577" cy="808577"/>
            <a:chOff x="0" y="0"/>
            <a:chExt cx="1078103" cy="107810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7624980">
            <a:off x="14450711" y="4790475"/>
            <a:ext cx="15400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3175020">
            <a:off x="15350709" y="4790475"/>
            <a:ext cx="15400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5320079">
            <a:off x="14156265" y="5990473"/>
            <a:ext cx="1228906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105779">
            <a:off x="14741700" y="5385711"/>
            <a:ext cx="1858032" cy="0"/>
          </a:xfrm>
          <a:prstGeom prst="line">
            <a:avLst/>
          </a:prstGeom>
          <a:ln cap="rnd" w="28575">
            <a:solidFill>
              <a:srgbClr val="E3A3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5266432" y="3795712"/>
            <a:ext cx="808577" cy="808577"/>
            <a:chOff x="0" y="0"/>
            <a:chExt cx="1078103" cy="107810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17415F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366424" y="4995710"/>
            <a:ext cx="808577" cy="808577"/>
            <a:chOff x="0" y="0"/>
            <a:chExt cx="1078103" cy="107810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166430" y="4995710"/>
            <a:ext cx="808577" cy="808577"/>
            <a:chOff x="0" y="0"/>
            <a:chExt cx="1078103" cy="107810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78103" cy="1077976"/>
            </a:xfrm>
            <a:custGeom>
              <a:avLst/>
              <a:gdLst/>
              <a:ahLst/>
              <a:cxnLst/>
              <a:rect r="r" b="b" t="t" l="l"/>
              <a:pathLst>
                <a:path h="1077976" w="1078103">
                  <a:moveTo>
                    <a:pt x="0" y="538988"/>
                  </a:moveTo>
                  <a:cubicBezTo>
                    <a:pt x="0" y="241300"/>
                    <a:pt x="241300" y="0"/>
                    <a:pt x="538988" y="0"/>
                  </a:cubicBezTo>
                  <a:cubicBezTo>
                    <a:pt x="836676" y="0"/>
                    <a:pt x="1078103" y="241300"/>
                    <a:pt x="1078103" y="538988"/>
                  </a:cubicBezTo>
                  <a:cubicBezTo>
                    <a:pt x="1078103" y="836676"/>
                    <a:pt x="836803" y="1077976"/>
                    <a:pt x="539115" y="1077976"/>
                  </a:cubicBezTo>
                  <a:cubicBezTo>
                    <a:pt x="241427" y="1077976"/>
                    <a:pt x="0" y="836803"/>
                    <a:pt x="0" y="538988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78103" cy="112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366424" y="6195717"/>
            <a:ext cx="808577" cy="808575"/>
            <a:chOff x="0" y="0"/>
            <a:chExt cx="1078103" cy="10781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8103" cy="1077973"/>
            </a:xfrm>
            <a:custGeom>
              <a:avLst/>
              <a:gdLst/>
              <a:ahLst/>
              <a:cxnLst/>
              <a:rect r="r" b="b" t="t" l="l"/>
              <a:pathLst>
                <a:path h="1077973" w="1078103">
                  <a:moveTo>
                    <a:pt x="0" y="538986"/>
                  </a:moveTo>
                  <a:cubicBezTo>
                    <a:pt x="0" y="241299"/>
                    <a:pt x="241300" y="0"/>
                    <a:pt x="538988" y="0"/>
                  </a:cubicBezTo>
                  <a:cubicBezTo>
                    <a:pt x="836676" y="0"/>
                    <a:pt x="1078103" y="241299"/>
                    <a:pt x="1078103" y="538986"/>
                  </a:cubicBezTo>
                  <a:cubicBezTo>
                    <a:pt x="1078103" y="836674"/>
                    <a:pt x="836803" y="1077973"/>
                    <a:pt x="539115" y="1077973"/>
                  </a:cubicBezTo>
                  <a:cubicBezTo>
                    <a:pt x="241427" y="1077973"/>
                    <a:pt x="0" y="836801"/>
                    <a:pt x="0" y="538986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1078103" cy="1125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9930003" y="7246429"/>
            <a:ext cx="3387147" cy="74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De A a D hay un solo camino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977147" y="7246429"/>
            <a:ext cx="3387147" cy="74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De A a C hay dos caminos: A, C y A, B, 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Terminología básica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800350" y="3714750"/>
            <a:ext cx="1714500" cy="1905000"/>
            <a:chOff x="0" y="0"/>
            <a:chExt cx="2286000" cy="2540000"/>
          </a:xfrm>
        </p:grpSpPr>
        <p:sp>
          <p:nvSpPr>
            <p:cNvPr name="Freeform 57" id="57" descr="connector"/>
            <p:cNvSpPr/>
            <p:nvPr/>
          </p:nvSpPr>
          <p:spPr>
            <a:xfrm flipH="false" flipV="false" rot="0">
              <a:off x="0" y="0"/>
              <a:ext cx="2286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324350" y="3714750"/>
            <a:ext cx="1714500" cy="1905000"/>
            <a:chOff x="0" y="0"/>
            <a:chExt cx="2286000" cy="2540000"/>
          </a:xfrm>
        </p:grpSpPr>
        <p:sp>
          <p:nvSpPr>
            <p:cNvPr name="Freeform 59" id="59" descr="connector"/>
            <p:cNvSpPr/>
            <p:nvPr/>
          </p:nvSpPr>
          <p:spPr>
            <a:xfrm flipH="false" flipV="false" rot="0">
              <a:off x="0" y="0"/>
              <a:ext cx="2286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038350" y="5429250"/>
            <a:ext cx="952500" cy="1905000"/>
            <a:chOff x="0" y="0"/>
            <a:chExt cx="1270000" cy="2540000"/>
          </a:xfrm>
        </p:grpSpPr>
        <p:sp>
          <p:nvSpPr>
            <p:cNvPr name="Freeform 61" id="61" descr="connector"/>
            <p:cNvSpPr/>
            <p:nvPr/>
          </p:nvSpPr>
          <p:spPr>
            <a:xfrm flipH="false" flipV="false" rot="0">
              <a:off x="0" y="0"/>
              <a:ext cx="127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800350" y="5429250"/>
            <a:ext cx="952500" cy="1905000"/>
            <a:chOff x="0" y="0"/>
            <a:chExt cx="1270000" cy="2540000"/>
          </a:xfrm>
        </p:grpSpPr>
        <p:sp>
          <p:nvSpPr>
            <p:cNvPr name="Freeform 63" id="63" descr="connector"/>
            <p:cNvSpPr/>
            <p:nvPr/>
          </p:nvSpPr>
          <p:spPr>
            <a:xfrm flipH="false" flipV="false" rot="0">
              <a:off x="0" y="0"/>
              <a:ext cx="127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848350" y="5429250"/>
            <a:ext cx="952500" cy="1905000"/>
            <a:chOff x="0" y="0"/>
            <a:chExt cx="1270000" cy="2540000"/>
          </a:xfrm>
        </p:grpSpPr>
        <p:sp>
          <p:nvSpPr>
            <p:cNvPr name="Freeform 65" id="65" descr="connector"/>
            <p:cNvSpPr/>
            <p:nvPr/>
          </p:nvSpPr>
          <p:spPr>
            <a:xfrm flipH="false" flipV="false" rot="0">
              <a:off x="0" y="0"/>
              <a:ext cx="127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000500" y="3390900"/>
            <a:ext cx="838200" cy="838200"/>
            <a:chOff x="0" y="0"/>
            <a:chExt cx="1117600" cy="1117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17415F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495550" y="5105400"/>
            <a:ext cx="838200" cy="838200"/>
            <a:chOff x="0" y="0"/>
            <a:chExt cx="1117600" cy="1117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524500" y="5105400"/>
            <a:ext cx="838200" cy="838200"/>
            <a:chOff x="0" y="0"/>
            <a:chExt cx="1117600" cy="1117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14500" y="6819900"/>
            <a:ext cx="838200" cy="838200"/>
            <a:chOff x="0" y="0"/>
            <a:chExt cx="1117600" cy="1117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88A5C4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238500" y="6819900"/>
            <a:ext cx="838200" cy="838200"/>
            <a:chOff x="0" y="0"/>
            <a:chExt cx="1117600" cy="1117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88A5C4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286500" y="6819900"/>
            <a:ext cx="838200" cy="838200"/>
            <a:chOff x="0" y="0"/>
            <a:chExt cx="1117600" cy="1117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88A5C4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4991100" y="3562350"/>
            <a:ext cx="19812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raíz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019300" y="4410075"/>
            <a:ext cx="131445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i="true">
                <a:solidFill>
                  <a:srgbClr val="4A5A5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arco</a:t>
            </a:r>
          </a:p>
        </p:txBody>
      </p:sp>
      <p:graphicFrame>
        <p:nvGraphicFramePr>
          <p:cNvPr name="Table 86" id="86"/>
          <p:cNvGraphicFramePr>
            <a:graphicFrameLocks noGrp="true"/>
          </p:cNvGraphicFramePr>
          <p:nvPr/>
        </p:nvGraphicFramePr>
        <p:xfrm>
          <a:off x="8401050" y="1695450"/>
          <a:ext cx="8648700" cy="4267200"/>
        </p:xfrm>
        <a:graphic>
          <a:graphicData uri="http://schemas.openxmlformats.org/drawingml/2006/table">
            <a:tbl>
              <a:tblPr/>
              <a:tblGrid>
                <a:gridCol w="2609684"/>
                <a:gridCol w="6039016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6F4EC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Término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5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6F4EC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Significado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5C4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Raíz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Nodo sin padre (A)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Nodo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Elemento que guarda un dato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Arco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Enlace entre padre e hijo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Padre e hijo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 es hijo de A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Hoja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Nodo sin hijos (D, E, F)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Grado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4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730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Cantidad de hijos (A: 2)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C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CCDE"/>
                    </a:solidFill>
                  </a:tcPr>
                </a:tc>
              </a:tr>
            </a:tbl>
          </a:graphicData>
        </a:graphic>
      </p:graphicFrame>
      <p:sp>
        <p:nvSpPr>
          <p:cNvPr name="TextBox 87" id="87"/>
          <p:cNvSpPr txBox="true"/>
          <p:nvPr/>
        </p:nvSpPr>
        <p:spPr>
          <a:xfrm rot="0">
            <a:off x="8401050" y="6019800"/>
            <a:ext cx="6110670" cy="81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</a:pPr>
            <a:r>
              <a:rPr lang="en-US" sz="2350" b="true">
                <a:solidFill>
                  <a:srgbClr val="3E526A"/>
                </a:solidFill>
                <a:latin typeface="DM Sans Bold"/>
                <a:ea typeface="DM Sans Bold"/>
                <a:cs typeface="DM Sans Bold"/>
                <a:sym typeface="DM Sans Bold"/>
              </a:rPr>
              <a:t>Nodos Secundarios</a:t>
            </a:r>
            <a:r>
              <a:rPr lang="en-US" sz="23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: Se refiere a todos los que son hijos o tienen un padre.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401050" y="6891105"/>
            <a:ext cx="6110670" cy="81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</a:pPr>
            <a:r>
              <a:rPr lang="en-US" sz="2350" b="true">
                <a:solidFill>
                  <a:srgbClr val="3E526A"/>
                </a:solidFill>
                <a:latin typeface="DM Sans Bold"/>
                <a:ea typeface="DM Sans Bold"/>
                <a:cs typeface="DM Sans Bold"/>
                <a:sym typeface="DM Sans Bold"/>
              </a:rPr>
              <a:t>Nodos Principales o Internos</a:t>
            </a:r>
            <a:r>
              <a:rPr lang="en-US" sz="23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: Son todos los que tienen uno o mas hijos.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401050" y="7762409"/>
            <a:ext cx="6110670" cy="39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</a:pPr>
            <a:r>
              <a:rPr lang="en-US" sz="2350" b="true">
                <a:solidFill>
                  <a:srgbClr val="3E526A"/>
                </a:solidFill>
                <a:latin typeface="DM Sans Bold"/>
                <a:ea typeface="DM Sans Bold"/>
                <a:cs typeface="DM Sans Bold"/>
                <a:sym typeface="DM Sans Bold"/>
              </a:rPr>
              <a:t>Tamaño</a:t>
            </a:r>
            <a:r>
              <a:rPr lang="en-US" sz="23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: Son todos los nodos.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401050" y="8215838"/>
            <a:ext cx="6110670" cy="81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</a:pPr>
            <a:r>
              <a:rPr lang="en-US" sz="2350" b="true">
                <a:solidFill>
                  <a:srgbClr val="3E526A"/>
                </a:solidFill>
                <a:latin typeface="DM Sans Bold"/>
                <a:ea typeface="DM Sans Bold"/>
                <a:cs typeface="DM Sans Bold"/>
                <a:sym typeface="DM Sans Bold"/>
              </a:rPr>
              <a:t>Subárbol:</a:t>
            </a:r>
            <a:r>
              <a:rPr lang="en-US" sz="23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 Es un nodo con todos sus descendientes</a:t>
            </a:r>
            <a:r>
              <a:rPr lang="en-US" sz="2350">
                <a:solidFill>
                  <a:srgbClr val="3E52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14806" y="1711555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Nivel y altura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191250" y="3619500"/>
            <a:ext cx="1905000" cy="1619250"/>
            <a:chOff x="0" y="0"/>
            <a:chExt cx="2540000" cy="2159000"/>
          </a:xfrm>
        </p:grpSpPr>
        <p:sp>
          <p:nvSpPr>
            <p:cNvPr name="Freeform 57" id="57" descr="connector"/>
            <p:cNvSpPr/>
            <p:nvPr/>
          </p:nvSpPr>
          <p:spPr>
            <a:xfrm flipH="false" flipV="false" rot="0">
              <a:off x="0" y="0"/>
              <a:ext cx="254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905750" y="5048250"/>
            <a:ext cx="1047750" cy="1619250"/>
            <a:chOff x="0" y="0"/>
            <a:chExt cx="1397000" cy="2159000"/>
          </a:xfrm>
        </p:grpSpPr>
        <p:sp>
          <p:nvSpPr>
            <p:cNvPr name="Freeform 59" id="59" descr="connector"/>
            <p:cNvSpPr/>
            <p:nvPr/>
          </p:nvSpPr>
          <p:spPr>
            <a:xfrm flipH="false" flipV="false" rot="0">
              <a:off x="0" y="0"/>
              <a:ext cx="139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619500" y="5048250"/>
            <a:ext cx="1047750" cy="1619250"/>
            <a:chOff x="0" y="0"/>
            <a:chExt cx="1397000" cy="2159000"/>
          </a:xfrm>
        </p:grpSpPr>
        <p:sp>
          <p:nvSpPr>
            <p:cNvPr name="Freeform 61" id="61" descr="connector"/>
            <p:cNvSpPr/>
            <p:nvPr/>
          </p:nvSpPr>
          <p:spPr>
            <a:xfrm flipH="false" flipV="false" rot="0">
              <a:off x="0" y="0"/>
              <a:ext cx="139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371975" y="3514725"/>
            <a:ext cx="2114550" cy="1828800"/>
            <a:chOff x="0" y="0"/>
            <a:chExt cx="2819400" cy="2438400"/>
          </a:xfrm>
        </p:grpSpPr>
        <p:sp>
          <p:nvSpPr>
            <p:cNvPr name="Freeform 63" id="63" descr="connector"/>
            <p:cNvSpPr/>
            <p:nvPr/>
          </p:nvSpPr>
          <p:spPr>
            <a:xfrm flipH="false" flipV="false" rot="0">
              <a:off x="0" y="0"/>
              <a:ext cx="2819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371975" y="4943475"/>
            <a:ext cx="1257300" cy="1828800"/>
            <a:chOff x="0" y="0"/>
            <a:chExt cx="1676400" cy="2438400"/>
          </a:xfrm>
        </p:grpSpPr>
        <p:sp>
          <p:nvSpPr>
            <p:cNvPr name="Freeform 65" id="65" descr="connector"/>
            <p:cNvSpPr/>
            <p:nvPr/>
          </p:nvSpPr>
          <p:spPr>
            <a:xfrm flipH="false" flipV="false" rot="0">
              <a:off x="0" y="0"/>
              <a:ext cx="167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371975" y="6372225"/>
            <a:ext cx="1257300" cy="1828800"/>
            <a:chOff x="0" y="0"/>
            <a:chExt cx="1676400" cy="2438400"/>
          </a:xfrm>
        </p:grpSpPr>
        <p:sp>
          <p:nvSpPr>
            <p:cNvPr name="Freeform 67" id="67" descr="connector"/>
            <p:cNvSpPr/>
            <p:nvPr/>
          </p:nvSpPr>
          <p:spPr>
            <a:xfrm flipH="false" flipV="false" rot="0">
              <a:off x="0" y="0"/>
              <a:ext cx="167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219200" y="3467100"/>
            <a:ext cx="16954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Nivel 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19200" y="4895850"/>
            <a:ext cx="16954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Nivel 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9200" y="6324600"/>
            <a:ext cx="16954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Nivel 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19200" y="7753350"/>
            <a:ext cx="16954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Nivel 3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5867400" y="3295650"/>
            <a:ext cx="838200" cy="838200"/>
            <a:chOff x="0" y="0"/>
            <a:chExt cx="1117600" cy="1117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BEFD3"/>
            </a:solidFill>
            <a:ln w="28575" cap="sq">
              <a:solidFill>
                <a:srgbClr val="FBEFD3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152900" y="4724400"/>
            <a:ext cx="838200" cy="838200"/>
            <a:chOff x="0" y="0"/>
            <a:chExt cx="1117600" cy="1117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BEFD3"/>
            </a:solidFill>
            <a:ln w="28575" cap="sq">
              <a:solidFill>
                <a:srgbClr val="FBEFD3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581900" y="4724400"/>
            <a:ext cx="838200" cy="838200"/>
            <a:chOff x="0" y="0"/>
            <a:chExt cx="1117600" cy="1117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295650" y="6153150"/>
            <a:ext cx="838200" cy="838200"/>
            <a:chOff x="0" y="0"/>
            <a:chExt cx="1117600" cy="1117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010150" y="6153150"/>
            <a:ext cx="838200" cy="838200"/>
            <a:chOff x="0" y="0"/>
            <a:chExt cx="1117600" cy="1117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BEFD3"/>
            </a:solidFill>
            <a:ln w="28575" cap="sq">
              <a:solidFill>
                <a:srgbClr val="FBEFD3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439150" y="6153150"/>
            <a:ext cx="838200" cy="838200"/>
            <a:chOff x="0" y="0"/>
            <a:chExt cx="1117600" cy="1117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152900" y="7581900"/>
            <a:ext cx="838200" cy="838200"/>
            <a:chOff x="0" y="0"/>
            <a:chExt cx="1117600" cy="1117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558800"/>
                  </a:moveTo>
                  <a:cubicBezTo>
                    <a:pt x="0" y="250190"/>
                    <a:pt x="250190" y="0"/>
                    <a:pt x="558800" y="0"/>
                  </a:cubicBezTo>
                  <a:cubicBezTo>
                    <a:pt x="867410" y="0"/>
                    <a:pt x="1117600" y="250190"/>
                    <a:pt x="1117600" y="558800"/>
                  </a:cubicBezTo>
                  <a:cubicBezTo>
                    <a:pt x="1117600" y="867410"/>
                    <a:pt x="867410" y="1117600"/>
                    <a:pt x="558800" y="1117600"/>
                  </a:cubicBezTo>
                  <a:cubicBezTo>
                    <a:pt x="250190" y="1117600"/>
                    <a:pt x="0" y="867410"/>
                    <a:pt x="0" y="558800"/>
                  </a:cubicBezTo>
                  <a:close/>
                </a:path>
              </a:pathLst>
            </a:custGeom>
            <a:solidFill>
              <a:srgbClr val="FBEFD3"/>
            </a:solidFill>
            <a:ln w="28575" cap="sq">
              <a:solidFill>
                <a:srgbClr val="FBEFD3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117600" cy="116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477500" y="2857500"/>
            <a:ext cx="6591300" cy="5715000"/>
            <a:chOff x="0" y="0"/>
            <a:chExt cx="8788400" cy="7620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788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8788400">
                  <a:moveTo>
                    <a:pt x="0" y="293116"/>
                  </a:moveTo>
                  <a:cubicBezTo>
                    <a:pt x="0" y="131191"/>
                    <a:pt x="131191" y="0"/>
                    <a:pt x="293116" y="0"/>
                  </a:cubicBezTo>
                  <a:lnTo>
                    <a:pt x="8495284" y="0"/>
                  </a:lnTo>
                  <a:cubicBezTo>
                    <a:pt x="8657209" y="0"/>
                    <a:pt x="8788400" y="131191"/>
                    <a:pt x="8788400" y="293116"/>
                  </a:cubicBezTo>
                  <a:lnTo>
                    <a:pt x="8788400" y="7326884"/>
                  </a:lnTo>
                  <a:cubicBezTo>
                    <a:pt x="8788400" y="7488682"/>
                    <a:pt x="8657209" y="7620000"/>
                    <a:pt x="8495284" y="7620000"/>
                  </a:cubicBezTo>
                  <a:lnTo>
                    <a:pt x="293116" y="7620000"/>
                  </a:lnTo>
                  <a:cubicBezTo>
                    <a:pt x="131191" y="7620000"/>
                    <a:pt x="0" y="7488809"/>
                    <a:pt x="0" y="7326884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D9D6C8"/>
              </a:solidFill>
              <a:prstDash val="solid"/>
              <a:miter/>
            </a:ln>
          </p:spPr>
        </p:sp>
      </p:grpSp>
      <p:sp>
        <p:nvSpPr>
          <p:cNvPr name="TextBox 95" id="95"/>
          <p:cNvSpPr txBox="true"/>
          <p:nvPr/>
        </p:nvSpPr>
        <p:spPr>
          <a:xfrm rot="0">
            <a:off x="10877550" y="3257550"/>
            <a:ext cx="5964936" cy="54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Nivel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877550" y="3884266"/>
            <a:ext cx="596493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Distancia de un nodo a la raíz. La raíz está en el nivel 0.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877550" y="4903441"/>
            <a:ext cx="5964936" cy="54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Altura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877550" y="5530158"/>
            <a:ext cx="596493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Camino más largo de la raíz a una hoja, contado en aristas.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877550" y="6596958"/>
            <a:ext cx="5964936" cy="74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Altura = 3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877550" y="7427414"/>
            <a:ext cx="596493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camino A, B, E, 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Árbol general y árbol binario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9200" y="2857500"/>
            <a:ext cx="7734300" cy="5715000"/>
            <a:chOff x="0" y="0"/>
            <a:chExt cx="10312400" cy="7620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312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312400">
                  <a:moveTo>
                    <a:pt x="0" y="293116"/>
                  </a:moveTo>
                  <a:cubicBezTo>
                    <a:pt x="0" y="131191"/>
                    <a:pt x="131191" y="0"/>
                    <a:pt x="293116" y="0"/>
                  </a:cubicBezTo>
                  <a:lnTo>
                    <a:pt x="10019284" y="0"/>
                  </a:lnTo>
                  <a:cubicBezTo>
                    <a:pt x="10181209" y="0"/>
                    <a:pt x="10312400" y="131191"/>
                    <a:pt x="10312400" y="293116"/>
                  </a:cubicBezTo>
                  <a:lnTo>
                    <a:pt x="10312400" y="7326884"/>
                  </a:lnTo>
                  <a:cubicBezTo>
                    <a:pt x="10312400" y="7488682"/>
                    <a:pt x="10181209" y="7620000"/>
                    <a:pt x="10019284" y="7620000"/>
                  </a:cubicBezTo>
                  <a:lnTo>
                    <a:pt x="293116" y="7620000"/>
                  </a:lnTo>
                  <a:cubicBezTo>
                    <a:pt x="131191" y="7620000"/>
                    <a:pt x="0" y="7488809"/>
                    <a:pt x="0" y="7326884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D9D6C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334500" y="2857500"/>
            <a:ext cx="7734300" cy="5715000"/>
            <a:chOff x="0" y="0"/>
            <a:chExt cx="10312400" cy="7620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312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312400">
                  <a:moveTo>
                    <a:pt x="0" y="293116"/>
                  </a:moveTo>
                  <a:cubicBezTo>
                    <a:pt x="0" y="131191"/>
                    <a:pt x="131191" y="0"/>
                    <a:pt x="293116" y="0"/>
                  </a:cubicBezTo>
                  <a:lnTo>
                    <a:pt x="10019284" y="0"/>
                  </a:lnTo>
                  <a:cubicBezTo>
                    <a:pt x="10181209" y="0"/>
                    <a:pt x="10312400" y="131191"/>
                    <a:pt x="10312400" y="293116"/>
                  </a:cubicBezTo>
                  <a:lnTo>
                    <a:pt x="10312400" y="7326884"/>
                  </a:lnTo>
                  <a:cubicBezTo>
                    <a:pt x="10312400" y="7488682"/>
                    <a:pt x="10181209" y="7620000"/>
                    <a:pt x="10019284" y="7620000"/>
                  </a:cubicBezTo>
                  <a:lnTo>
                    <a:pt x="293116" y="7620000"/>
                  </a:lnTo>
                  <a:cubicBezTo>
                    <a:pt x="131191" y="7620000"/>
                    <a:pt x="0" y="7488809"/>
                    <a:pt x="0" y="7326884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D9D6C8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600200" y="3133725"/>
            <a:ext cx="71814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Árbol general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00200" y="3629025"/>
            <a:ext cx="7181469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Cada nodo puede tener cualquier cantidad de hijos.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15500" y="3133725"/>
            <a:ext cx="718146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Árbol binario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15500" y="3629025"/>
            <a:ext cx="7181469" cy="83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Cada nodo tiene como máximo dos hijos: el izquierdo y el derecho.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3086100" y="5048250"/>
            <a:ext cx="2095500" cy="1619250"/>
            <a:chOff x="0" y="0"/>
            <a:chExt cx="2794000" cy="2159000"/>
          </a:xfrm>
        </p:grpSpPr>
        <p:sp>
          <p:nvSpPr>
            <p:cNvPr name="Freeform 65" id="65" descr="connector"/>
            <p:cNvSpPr/>
            <p:nvPr/>
          </p:nvSpPr>
          <p:spPr>
            <a:xfrm flipH="false" flipV="false" rot="0">
              <a:off x="0" y="0"/>
              <a:ext cx="279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991100" y="5048250"/>
            <a:ext cx="190500" cy="1619250"/>
            <a:chOff x="0" y="0"/>
            <a:chExt cx="254000" cy="2159000"/>
          </a:xfrm>
        </p:grpSpPr>
        <p:sp>
          <p:nvSpPr>
            <p:cNvPr name="Freeform 67" id="67" descr="connector"/>
            <p:cNvSpPr/>
            <p:nvPr/>
          </p:nvSpPr>
          <p:spPr>
            <a:xfrm flipH="false" flipV="false" rot="0">
              <a:off x="0" y="0"/>
              <a:ext cx="25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991100" y="5048250"/>
            <a:ext cx="2095500" cy="1619250"/>
            <a:chOff x="0" y="0"/>
            <a:chExt cx="2794000" cy="2159000"/>
          </a:xfrm>
        </p:grpSpPr>
        <p:sp>
          <p:nvSpPr>
            <p:cNvPr name="Freeform 69" id="69" descr="connector"/>
            <p:cNvSpPr/>
            <p:nvPr/>
          </p:nvSpPr>
          <p:spPr>
            <a:xfrm flipH="false" flipV="false" rot="0">
              <a:off x="0" y="0"/>
              <a:ext cx="279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324100" y="6477000"/>
            <a:ext cx="952500" cy="1524000"/>
            <a:chOff x="0" y="0"/>
            <a:chExt cx="1270000" cy="2032000"/>
          </a:xfrm>
        </p:grpSpPr>
        <p:sp>
          <p:nvSpPr>
            <p:cNvPr name="Freeform 71" id="71" descr="connector"/>
            <p:cNvSpPr/>
            <p:nvPr/>
          </p:nvSpPr>
          <p:spPr>
            <a:xfrm flipH="false" flipV="false" rot="0">
              <a:off x="0" y="0"/>
              <a:ext cx="127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086100" y="6477000"/>
            <a:ext cx="952500" cy="1524000"/>
            <a:chOff x="0" y="0"/>
            <a:chExt cx="1270000" cy="2032000"/>
          </a:xfrm>
        </p:grpSpPr>
        <p:sp>
          <p:nvSpPr>
            <p:cNvPr name="Freeform 73" id="73" descr="connector"/>
            <p:cNvSpPr/>
            <p:nvPr/>
          </p:nvSpPr>
          <p:spPr>
            <a:xfrm flipH="false" flipV="false" rot="0">
              <a:off x="0" y="0"/>
              <a:ext cx="127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01400" y="5048250"/>
            <a:ext cx="2095500" cy="1619250"/>
            <a:chOff x="0" y="0"/>
            <a:chExt cx="2794000" cy="2159000"/>
          </a:xfrm>
        </p:grpSpPr>
        <p:sp>
          <p:nvSpPr>
            <p:cNvPr name="Freeform 75" id="75" descr="connector"/>
            <p:cNvSpPr/>
            <p:nvPr/>
          </p:nvSpPr>
          <p:spPr>
            <a:xfrm flipH="false" flipV="false" rot="0">
              <a:off x="0" y="0"/>
              <a:ext cx="279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106400" y="5048250"/>
            <a:ext cx="2095500" cy="1619250"/>
            <a:chOff x="0" y="0"/>
            <a:chExt cx="2794000" cy="2159000"/>
          </a:xfrm>
        </p:grpSpPr>
        <p:sp>
          <p:nvSpPr>
            <p:cNvPr name="Freeform 77" id="77" descr="connector"/>
            <p:cNvSpPr/>
            <p:nvPr/>
          </p:nvSpPr>
          <p:spPr>
            <a:xfrm flipH="false" flipV="false" rot="0">
              <a:off x="0" y="0"/>
              <a:ext cx="279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248900" y="6477000"/>
            <a:ext cx="1143000" cy="1524000"/>
            <a:chOff x="0" y="0"/>
            <a:chExt cx="1524000" cy="2032000"/>
          </a:xfrm>
        </p:grpSpPr>
        <p:sp>
          <p:nvSpPr>
            <p:cNvPr name="Freeform 79" id="79" descr="connector"/>
            <p:cNvSpPr/>
            <p:nvPr/>
          </p:nvSpPr>
          <p:spPr>
            <a:xfrm flipH="false" flipV="false" rot="0">
              <a:off x="0" y="0"/>
              <a:ext cx="152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201400" y="6477000"/>
            <a:ext cx="1143000" cy="1524000"/>
            <a:chOff x="0" y="0"/>
            <a:chExt cx="1524000" cy="2032000"/>
          </a:xfrm>
        </p:grpSpPr>
        <p:sp>
          <p:nvSpPr>
            <p:cNvPr name="Freeform 81" id="81" descr="connector"/>
            <p:cNvSpPr/>
            <p:nvPr/>
          </p:nvSpPr>
          <p:spPr>
            <a:xfrm flipH="false" flipV="false" rot="0">
              <a:off x="0" y="0"/>
              <a:ext cx="152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43450" y="4800600"/>
            <a:ext cx="685800" cy="685800"/>
            <a:chOff x="0" y="0"/>
            <a:chExt cx="91440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F7A66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838450" y="6229350"/>
            <a:ext cx="685800" cy="685800"/>
            <a:chOff x="0" y="0"/>
            <a:chExt cx="91440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743450" y="6229350"/>
            <a:ext cx="685800" cy="685800"/>
            <a:chOff x="0" y="0"/>
            <a:chExt cx="914400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648450" y="6229350"/>
            <a:ext cx="685800" cy="685800"/>
            <a:chOff x="0" y="0"/>
            <a:chExt cx="914400" cy="914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076450" y="7562850"/>
            <a:ext cx="685800" cy="685800"/>
            <a:chOff x="0" y="0"/>
            <a:chExt cx="914400" cy="9144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3600450" y="7562850"/>
            <a:ext cx="685800" cy="685800"/>
            <a:chOff x="0" y="0"/>
            <a:chExt cx="914400" cy="9144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858750" y="4800600"/>
            <a:ext cx="685800" cy="685800"/>
            <a:chOff x="0" y="0"/>
            <a:chExt cx="91440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F7A66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953750" y="6229350"/>
            <a:ext cx="685800" cy="685800"/>
            <a:chOff x="0" y="0"/>
            <a:chExt cx="914400" cy="9144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763750" y="6229350"/>
            <a:ext cx="685800" cy="685800"/>
            <a:chOff x="0" y="0"/>
            <a:chExt cx="914400" cy="9144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001250" y="7562850"/>
            <a:ext cx="685800" cy="685800"/>
            <a:chOff x="0" y="0"/>
            <a:chExt cx="914400" cy="9144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906250" y="7562850"/>
            <a:ext cx="685800" cy="685800"/>
            <a:chOff x="0" y="0"/>
            <a:chExt cx="914400" cy="914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5619750" y="4953000"/>
            <a:ext cx="313944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3 hijos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677900" y="4953000"/>
            <a:ext cx="3335655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máximo 2 hijos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496550" y="5448300"/>
            <a:ext cx="160020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i="true">
                <a:solidFill>
                  <a:srgbClr val="4A5A5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izquierdo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4287500" y="5448300"/>
            <a:ext cx="160020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i="true">
                <a:solidFill>
                  <a:srgbClr val="4A5A54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derecho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26501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250631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EN JAVA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La clase Nodo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9200" y="2952750"/>
            <a:ext cx="2222449" cy="1143000"/>
            <a:chOff x="0" y="0"/>
            <a:chExt cx="2963266" cy="152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63291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63291">
                  <a:moveTo>
                    <a:pt x="0" y="0"/>
                  </a:moveTo>
                  <a:lnTo>
                    <a:pt x="2963291" y="0"/>
                  </a:lnTo>
                  <a:lnTo>
                    <a:pt x="2963291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8A5C4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963266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441649" y="2952750"/>
            <a:ext cx="2222602" cy="1143000"/>
            <a:chOff x="0" y="0"/>
            <a:chExt cx="2963469" cy="1524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63418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63418">
                  <a:moveTo>
                    <a:pt x="0" y="0"/>
                  </a:moveTo>
                  <a:lnTo>
                    <a:pt x="2963418" y="0"/>
                  </a:lnTo>
                  <a:lnTo>
                    <a:pt x="2963418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963469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izquierdo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664251" y="2952750"/>
            <a:ext cx="2222449" cy="1143000"/>
            <a:chOff x="0" y="0"/>
            <a:chExt cx="2963266" cy="1524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63291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63291">
                  <a:moveTo>
                    <a:pt x="0" y="0"/>
                  </a:moveTo>
                  <a:lnTo>
                    <a:pt x="2963291" y="0"/>
                  </a:lnTo>
                  <a:lnTo>
                    <a:pt x="2963291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963266" cy="15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derecho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457700" y="4000500"/>
            <a:ext cx="190500" cy="1143000"/>
            <a:chOff x="0" y="0"/>
            <a:chExt cx="254000" cy="1524000"/>
          </a:xfrm>
        </p:grpSpPr>
        <p:sp>
          <p:nvSpPr>
            <p:cNvPr name="Freeform 66" id="66" descr="connector"/>
            <p:cNvSpPr/>
            <p:nvPr/>
          </p:nvSpPr>
          <p:spPr>
            <a:xfrm flipH="false" flipV="false" rot="0">
              <a:off x="0" y="0"/>
              <a:ext cx="25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677025" y="4000500"/>
            <a:ext cx="190500" cy="1143000"/>
            <a:chOff x="0" y="0"/>
            <a:chExt cx="254000" cy="1524000"/>
          </a:xfrm>
        </p:grpSpPr>
        <p:sp>
          <p:nvSpPr>
            <p:cNvPr name="Freeform 68" id="68" descr="connector"/>
            <p:cNvSpPr/>
            <p:nvPr/>
          </p:nvSpPr>
          <p:spPr>
            <a:xfrm flipH="false" flipV="false" rot="0">
              <a:off x="0" y="0"/>
              <a:ext cx="25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600450" y="5048250"/>
            <a:ext cx="1905000" cy="762000"/>
            <a:chOff x="0" y="0"/>
            <a:chExt cx="2540000" cy="1016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2370709" y="0"/>
                  </a:lnTo>
                  <a:cubicBezTo>
                    <a:pt x="2464181" y="0"/>
                    <a:pt x="2540000" y="75819"/>
                    <a:pt x="2540000" y="169291"/>
                  </a:cubicBezTo>
                  <a:lnTo>
                    <a:pt x="2540000" y="846709"/>
                  </a:lnTo>
                  <a:cubicBezTo>
                    <a:pt x="2540000" y="940181"/>
                    <a:pt x="2464181" y="1016000"/>
                    <a:pt x="2370709" y="1016000"/>
                  </a:cubicBezTo>
                  <a:lnTo>
                    <a:pt x="169291" y="1016000"/>
                  </a:lnTo>
                  <a:cubicBezTo>
                    <a:pt x="75819" y="1016000"/>
                    <a:pt x="0" y="940181"/>
                    <a:pt x="0" y="846709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540000" cy="106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otro Nodo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819775" y="5048250"/>
            <a:ext cx="1905000" cy="762000"/>
            <a:chOff x="0" y="0"/>
            <a:chExt cx="2540000" cy="1016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2370709" y="0"/>
                  </a:lnTo>
                  <a:cubicBezTo>
                    <a:pt x="2464181" y="0"/>
                    <a:pt x="2540000" y="75819"/>
                    <a:pt x="2540000" y="169291"/>
                  </a:cubicBezTo>
                  <a:lnTo>
                    <a:pt x="2540000" y="846709"/>
                  </a:lnTo>
                  <a:cubicBezTo>
                    <a:pt x="2540000" y="940181"/>
                    <a:pt x="2464181" y="1016000"/>
                    <a:pt x="2370709" y="1016000"/>
                  </a:cubicBezTo>
                  <a:lnTo>
                    <a:pt x="169291" y="1016000"/>
                  </a:lnTo>
                  <a:cubicBezTo>
                    <a:pt x="75819" y="1016000"/>
                    <a:pt x="0" y="940181"/>
                    <a:pt x="0" y="846709"/>
                  </a:cubicBezTo>
                  <a:close/>
                </a:path>
              </a:pathLst>
            </a:custGeom>
            <a:solidFill>
              <a:srgbClr val="EFEBDD"/>
            </a:solidFill>
            <a:ln w="19050" cap="sq">
              <a:solidFill>
                <a:srgbClr val="BECCDE"/>
              </a:solidFill>
              <a:prstDash val="dash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540000" cy="106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b="true" sz="2250">
                  <a:solidFill>
                    <a:srgbClr val="5A6A6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null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219200" y="6715125"/>
            <a:ext cx="686752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Si un enlace es null, ese hijo no existe. Una hoja es un nodo con los dos enlaces en null.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047988" y="3095625"/>
            <a:ext cx="8496300" cy="4095750"/>
            <a:chOff x="0" y="0"/>
            <a:chExt cx="11328400" cy="5461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3284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11328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1023600" y="0"/>
                  </a:lnTo>
                  <a:cubicBezTo>
                    <a:pt x="11191875" y="0"/>
                    <a:pt x="11328400" y="136398"/>
                    <a:pt x="11328400" y="304800"/>
                  </a:cubicBezTo>
                  <a:lnTo>
                    <a:pt x="11328400" y="5156200"/>
                  </a:lnTo>
                  <a:cubicBezTo>
                    <a:pt x="11328400" y="5324475"/>
                    <a:pt x="11192002" y="5461000"/>
                    <a:pt x="11023600" y="5461000"/>
                  </a:cubicBezTo>
                  <a:lnTo>
                    <a:pt x="304800" y="5461000"/>
                  </a:lnTo>
                  <a:cubicBezTo>
                    <a:pt x="136525" y="5461000"/>
                    <a:pt x="0" y="5324602"/>
                    <a:pt x="0" y="5156200"/>
                  </a:cubicBezTo>
                  <a:close/>
                </a:path>
              </a:pathLst>
            </a:custGeom>
            <a:solidFill>
              <a:srgbClr val="12261F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11328400" cy="55372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class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Nodo&lt;T&gt; {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 dato;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Nodo&lt;T&gt; izquierdo;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Nodo&lt;T&gt; derecho;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Nodo(T dato) { this.dato = dato; }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    </a:t>
              </a: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boolean</a:t>
              </a: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esHoja() { ... }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OPERACIONES DEL MODELO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Nodo: esHoja() y grado()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9200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b="true" sz="1950">
                <a:solidFill>
                  <a:srgbClr val="17415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boolean esHoja()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3215478" y="3215478"/>
            <a:ext cx="2269046" cy="589055"/>
            <a:chOff x="0" y="0"/>
            <a:chExt cx="3025394" cy="7854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5126639">
            <a:off x="4170140" y="3950475"/>
            <a:ext cx="3597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2160708" y="4110714"/>
            <a:ext cx="4378576" cy="1528572"/>
            <a:chOff x="0" y="0"/>
            <a:chExt cx="5838101" cy="203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38063" cy="2038096"/>
            </a:xfrm>
            <a:custGeom>
              <a:avLst/>
              <a:gdLst/>
              <a:ahLst/>
              <a:cxnLst/>
              <a:rect r="r" b="b" t="t" l="l"/>
              <a:pathLst>
                <a:path h="2038096" w="5838063">
                  <a:moveTo>
                    <a:pt x="0" y="1019048"/>
                  </a:moveTo>
                  <a:lnTo>
                    <a:pt x="2919095" y="0"/>
                  </a:lnTo>
                  <a:lnTo>
                    <a:pt x="5838063" y="1019048"/>
                  </a:lnTo>
                  <a:lnTo>
                    <a:pt x="2919095" y="2038096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2783996" y="4394997"/>
            <a:ext cx="3132001" cy="959996"/>
            <a:chOff x="0" y="0"/>
            <a:chExt cx="4176001" cy="127999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76000" cy="1280000"/>
            </a:xfrm>
            <a:custGeom>
              <a:avLst/>
              <a:gdLst/>
              <a:ahLst/>
              <a:cxnLst/>
              <a:rect r="r" b="b" t="t" l="l"/>
              <a:pathLst>
                <a:path h="1280000" w="4176000">
                  <a:moveTo>
                    <a:pt x="0" y="0"/>
                  </a:moveTo>
                  <a:lnTo>
                    <a:pt x="4176000" y="0"/>
                  </a:lnTo>
                  <a:lnTo>
                    <a:pt x="4176000" y="1280000"/>
                  </a:lnTo>
                  <a:lnTo>
                    <a:pt x="0" y="12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70" r="0" b="-1356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176001" cy="1279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izquierdo == null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 derecho == null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156179">
            <a:off x="6510385" y="4865475"/>
            <a:ext cx="62922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7" id="67"/>
          <p:cNvSpPr txBox="true"/>
          <p:nvPr/>
        </p:nvSpPr>
        <p:spPr>
          <a:xfrm rot="0">
            <a:off x="6599996" y="446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115470" y="4580477"/>
            <a:ext cx="1969046" cy="589055"/>
            <a:chOff x="0" y="0"/>
            <a:chExt cx="2625395" cy="78540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25344" cy="785368"/>
            </a:xfrm>
            <a:custGeom>
              <a:avLst/>
              <a:gdLst/>
              <a:ahLst/>
              <a:cxnLst/>
              <a:rect r="r" b="b" t="t" l="l"/>
              <a:pathLst>
                <a:path h="785368" w="262534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232660" y="0"/>
                  </a:lnTo>
                  <a:cubicBezTo>
                    <a:pt x="2449576" y="0"/>
                    <a:pt x="2625344" y="175768"/>
                    <a:pt x="2625344" y="392684"/>
                  </a:cubicBezTo>
                  <a:cubicBezTo>
                    <a:pt x="2625344" y="609600"/>
                    <a:pt x="2449576" y="785368"/>
                    <a:pt x="223266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2625395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false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5260439">
            <a:off x="3997919" y="5952973"/>
            <a:ext cx="704155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2" id="72"/>
          <p:cNvSpPr txBox="true"/>
          <p:nvPr/>
        </p:nvSpPr>
        <p:spPr>
          <a:xfrm rot="0">
            <a:off x="4500001" y="5699998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3215478" y="6290472"/>
            <a:ext cx="2269046" cy="589055"/>
            <a:chOff x="0" y="0"/>
            <a:chExt cx="3025394" cy="78540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025394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true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19200" y="8441627"/>
            <a:ext cx="7500004" cy="88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Una hoja es un nodo sin hijos: los dos enlaces valen null.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744285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b="true" sz="1950">
                <a:solidFill>
                  <a:srgbClr val="3E526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 grado()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2365479" y="3215478"/>
            <a:ext cx="2269046" cy="589055"/>
            <a:chOff x="0" y="0"/>
            <a:chExt cx="3025394" cy="78540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5126640">
            <a:off x="13320141" y="3950475"/>
            <a:ext cx="3597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12210717" y="4110714"/>
            <a:ext cx="2578579" cy="598580"/>
            <a:chOff x="0" y="0"/>
            <a:chExt cx="3438106" cy="79810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38144" cy="798068"/>
            </a:xfrm>
            <a:custGeom>
              <a:avLst/>
              <a:gdLst/>
              <a:ahLst/>
              <a:cxnLst/>
              <a:rect r="r" b="b" t="t" l="l"/>
              <a:pathLst>
                <a:path h="798068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798068"/>
                  </a:lnTo>
                  <a:lnTo>
                    <a:pt x="0" y="798068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438106" cy="798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hijos = 0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 rot="5126640">
            <a:off x="13320141" y="4850473"/>
            <a:ext cx="3597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6" id="86"/>
          <p:cNvGrpSpPr/>
          <p:nvPr/>
        </p:nvGrpSpPr>
        <p:grpSpPr>
          <a:xfrm rot="0">
            <a:off x="11535708" y="5010712"/>
            <a:ext cx="3928577" cy="1168575"/>
            <a:chOff x="0" y="0"/>
            <a:chExt cx="5238102" cy="15581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38115" cy="1558163"/>
            </a:xfrm>
            <a:custGeom>
              <a:avLst/>
              <a:gdLst/>
              <a:ahLst/>
              <a:cxnLst/>
              <a:rect r="r" b="b" t="t" l="l"/>
              <a:pathLst>
                <a:path h="1558163" w="5238115">
                  <a:moveTo>
                    <a:pt x="0" y="779018"/>
                  </a:moveTo>
                  <a:lnTo>
                    <a:pt x="2618994" y="0"/>
                  </a:lnTo>
                  <a:lnTo>
                    <a:pt x="5238115" y="779018"/>
                  </a:lnTo>
                  <a:lnTo>
                    <a:pt x="2618994" y="1558163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095998" y="5230197"/>
            <a:ext cx="2807999" cy="729596"/>
            <a:chOff x="0" y="0"/>
            <a:chExt cx="3743998" cy="97279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44000" cy="972800"/>
            </a:xfrm>
            <a:custGeom>
              <a:avLst/>
              <a:gdLst/>
              <a:ahLst/>
              <a:cxnLst/>
              <a:rect r="r" b="b" t="t" l="l"/>
              <a:pathLst>
                <a:path h="9728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972800"/>
                  </a:lnTo>
                  <a:lnTo>
                    <a:pt x="0" y="97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1" r="0" b="-2499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743998" cy="982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izquierdo != null?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rot="242999">
            <a:off x="15435205" y="5585479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2" id="92"/>
          <p:cNvSpPr txBox="true"/>
          <p:nvPr/>
        </p:nvSpPr>
        <p:spPr>
          <a:xfrm rot="0">
            <a:off x="15449998" y="5190001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5960709" y="5295710"/>
            <a:ext cx="1378572" cy="598580"/>
            <a:chOff x="0" y="0"/>
            <a:chExt cx="1838096" cy="79810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38071" cy="798068"/>
            </a:xfrm>
            <a:custGeom>
              <a:avLst/>
              <a:gdLst/>
              <a:ahLst/>
              <a:cxnLst/>
              <a:rect r="r" b="b" t="t" l="l"/>
              <a:pathLst>
                <a:path h="798068" w="1838071">
                  <a:moveTo>
                    <a:pt x="0" y="0"/>
                  </a:moveTo>
                  <a:lnTo>
                    <a:pt x="1838071" y="0"/>
                  </a:lnTo>
                  <a:lnTo>
                    <a:pt x="1838071" y="798068"/>
                  </a:lnTo>
                  <a:lnTo>
                    <a:pt x="0" y="798068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838096" cy="798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hijos++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 rot="5207040">
            <a:off x="16395316" y="6110478"/>
            <a:ext cx="509378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10769100">
            <a:off x="13485647" y="6350479"/>
            <a:ext cx="317870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8" id="98"/>
          <p:cNvSpPr/>
          <p:nvPr/>
        </p:nvSpPr>
        <p:spPr>
          <a:xfrm rot="5165699">
            <a:off x="13290223" y="6350470"/>
            <a:ext cx="419548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9" id="99"/>
          <p:cNvSpPr txBox="true"/>
          <p:nvPr/>
        </p:nvSpPr>
        <p:spPr>
          <a:xfrm rot="0">
            <a:off x="13650001" y="614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1535708" y="6540713"/>
            <a:ext cx="3928577" cy="1168575"/>
            <a:chOff x="0" y="0"/>
            <a:chExt cx="5238102" cy="15581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238115" cy="1558163"/>
            </a:xfrm>
            <a:custGeom>
              <a:avLst/>
              <a:gdLst/>
              <a:ahLst/>
              <a:cxnLst/>
              <a:rect r="r" b="b" t="t" l="l"/>
              <a:pathLst>
                <a:path h="1558163" w="5238115">
                  <a:moveTo>
                    <a:pt x="0" y="779018"/>
                  </a:moveTo>
                  <a:lnTo>
                    <a:pt x="2618994" y="0"/>
                  </a:lnTo>
                  <a:lnTo>
                    <a:pt x="5238115" y="779018"/>
                  </a:lnTo>
                  <a:lnTo>
                    <a:pt x="2618994" y="1558163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095998" y="6760197"/>
            <a:ext cx="2807999" cy="729596"/>
            <a:chOff x="0" y="0"/>
            <a:chExt cx="3743998" cy="97279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744000" cy="972800"/>
            </a:xfrm>
            <a:custGeom>
              <a:avLst/>
              <a:gdLst/>
              <a:ahLst/>
              <a:cxnLst/>
              <a:rect r="r" b="b" t="t" l="l"/>
              <a:pathLst>
                <a:path h="9728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972800"/>
                  </a:lnTo>
                  <a:lnTo>
                    <a:pt x="0" y="97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1" r="0" b="-2499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743998" cy="982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derecho != null?</a:t>
              </a:r>
            </a:p>
          </p:txBody>
        </p:sp>
      </p:grpSp>
      <p:sp>
        <p:nvSpPr>
          <p:cNvPr name="AutoShape 105" id="105"/>
          <p:cNvSpPr/>
          <p:nvPr/>
        </p:nvSpPr>
        <p:spPr>
          <a:xfrm rot="243000">
            <a:off x="15435205" y="7115470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6" id="106"/>
          <p:cNvSpPr txBox="true"/>
          <p:nvPr/>
        </p:nvSpPr>
        <p:spPr>
          <a:xfrm rot="0">
            <a:off x="15449998" y="6720002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5960709" y="6825710"/>
            <a:ext cx="1378572" cy="598580"/>
            <a:chOff x="0" y="0"/>
            <a:chExt cx="1838096" cy="79810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38071" cy="798068"/>
            </a:xfrm>
            <a:custGeom>
              <a:avLst/>
              <a:gdLst/>
              <a:ahLst/>
              <a:cxnLst/>
              <a:rect r="r" b="b" t="t" l="l"/>
              <a:pathLst>
                <a:path h="798068" w="1838071">
                  <a:moveTo>
                    <a:pt x="0" y="0"/>
                  </a:moveTo>
                  <a:lnTo>
                    <a:pt x="1838071" y="0"/>
                  </a:lnTo>
                  <a:lnTo>
                    <a:pt x="1838071" y="798068"/>
                  </a:lnTo>
                  <a:lnTo>
                    <a:pt x="0" y="798068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1838096" cy="798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hijos++</a:t>
              </a:r>
            </a:p>
          </p:txBody>
        </p:sp>
      </p:grpSp>
      <p:sp>
        <p:nvSpPr>
          <p:cNvPr name="AutoShape 110" id="110"/>
          <p:cNvSpPr/>
          <p:nvPr/>
        </p:nvSpPr>
        <p:spPr>
          <a:xfrm rot="5217780">
            <a:off x="16380333" y="7655471"/>
            <a:ext cx="53933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rot="10769100">
            <a:off x="13485647" y="7910474"/>
            <a:ext cx="317870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2" id="112"/>
          <p:cNvSpPr/>
          <p:nvPr/>
        </p:nvSpPr>
        <p:spPr>
          <a:xfrm rot="5194979">
            <a:off x="13260286" y="7910474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3" id="113"/>
          <p:cNvSpPr txBox="true"/>
          <p:nvPr/>
        </p:nvSpPr>
        <p:spPr>
          <a:xfrm rot="0">
            <a:off x="13650001" y="7679998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2215479" y="8135474"/>
            <a:ext cx="2569054" cy="589055"/>
            <a:chOff x="0" y="0"/>
            <a:chExt cx="3425406" cy="78540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425444" cy="785368"/>
            </a:xfrm>
            <a:custGeom>
              <a:avLst/>
              <a:gdLst/>
              <a:ahLst/>
              <a:cxnLst/>
              <a:rect r="r" b="b" t="t" l="l"/>
              <a:pathLst>
                <a:path h="785368" w="342544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3032760" y="0"/>
                  </a:lnTo>
                  <a:cubicBezTo>
                    <a:pt x="3249676" y="0"/>
                    <a:pt x="3425444" y="175768"/>
                    <a:pt x="3425444" y="392684"/>
                  </a:cubicBezTo>
                  <a:cubicBezTo>
                    <a:pt x="3425444" y="609600"/>
                    <a:pt x="3249549" y="785368"/>
                    <a:pt x="303276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3425406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hijos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1912525" y="-417673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4" id="54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OPERACIONES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Las operaciones de cada clase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9200" y="2581427"/>
            <a:ext cx="7800003" cy="41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MODELO · Nodo&lt;T&gt;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44285" y="2581427"/>
            <a:ext cx="7800003" cy="41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NEGOCIO · ArbolBinario&lt;T&gt;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09675" y="3140478"/>
            <a:ext cx="7819053" cy="619049"/>
            <a:chOff x="0" y="0"/>
            <a:chExt cx="10425405" cy="82539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14196" y="3150003"/>
            <a:ext cx="4350001" cy="599999"/>
            <a:chOff x="0" y="0"/>
            <a:chExt cx="5800001" cy="79999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getDato / setDato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764197" y="3150003"/>
            <a:ext cx="3104998" cy="599999"/>
            <a:chOff x="0" y="0"/>
            <a:chExt cx="4139997" cy="79999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lee y cambia el dato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09675" y="3830479"/>
            <a:ext cx="7819053" cy="619049"/>
            <a:chOff x="0" y="0"/>
            <a:chExt cx="10425405" cy="82539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14196" y="3840004"/>
            <a:ext cx="4350001" cy="599999"/>
            <a:chOff x="0" y="0"/>
            <a:chExt cx="5800001" cy="79999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getIzquierdo / setIzquierdo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764197" y="3840004"/>
            <a:ext cx="3104998" cy="599999"/>
            <a:chOff x="0" y="0"/>
            <a:chExt cx="4139997" cy="79999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enlace izquierdo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09675" y="4520479"/>
            <a:ext cx="7819053" cy="619049"/>
            <a:chOff x="0" y="0"/>
            <a:chExt cx="10425405" cy="82539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14196" y="4530004"/>
            <a:ext cx="4350001" cy="599999"/>
            <a:chOff x="0" y="0"/>
            <a:chExt cx="5800001" cy="79999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getDerecho / setDerecho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764197" y="4530004"/>
            <a:ext cx="3104998" cy="599999"/>
            <a:chOff x="0" y="0"/>
            <a:chExt cx="4139997" cy="79999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enlace derecho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09675" y="5210470"/>
            <a:ext cx="7819053" cy="619049"/>
            <a:chOff x="0" y="0"/>
            <a:chExt cx="10425405" cy="82539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414196" y="5219995"/>
            <a:ext cx="4350001" cy="599999"/>
            <a:chOff x="0" y="0"/>
            <a:chExt cx="5800001" cy="79999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esHoja()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764197" y="5219995"/>
            <a:ext cx="3104998" cy="599999"/>
            <a:chOff x="0" y="0"/>
            <a:chExt cx="4139997" cy="7999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true si no tiene hijos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09675" y="5900471"/>
            <a:ext cx="7819053" cy="619049"/>
            <a:chOff x="0" y="0"/>
            <a:chExt cx="10425405" cy="82539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414196" y="5909996"/>
            <a:ext cx="4350001" cy="599999"/>
            <a:chOff x="0" y="0"/>
            <a:chExt cx="5800001" cy="79999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grado()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764197" y="5909996"/>
            <a:ext cx="3104998" cy="599999"/>
            <a:chOff x="0" y="0"/>
            <a:chExt cx="4139997" cy="7999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cantidad de hijos: 0, 1 o 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34760" y="3140478"/>
            <a:ext cx="7819053" cy="619049"/>
            <a:chOff x="0" y="0"/>
            <a:chExt cx="10425405" cy="82539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939290" y="3150003"/>
            <a:ext cx="4350001" cy="599999"/>
            <a:chOff x="0" y="0"/>
            <a:chExt cx="5800001" cy="79999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esVacio()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289291" y="3150003"/>
            <a:ext cx="3104998" cy="599999"/>
            <a:chOff x="0" y="0"/>
            <a:chExt cx="4139997" cy="79999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true si no hay raíz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734760" y="3830479"/>
            <a:ext cx="7819053" cy="619049"/>
            <a:chOff x="0" y="0"/>
            <a:chExt cx="10425405" cy="82539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9939290" y="3840004"/>
            <a:ext cx="4350001" cy="599999"/>
            <a:chOff x="0" y="0"/>
            <a:chExt cx="5800001" cy="79999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getRaiz()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289291" y="3840004"/>
            <a:ext cx="3104998" cy="599999"/>
            <a:chOff x="0" y="0"/>
            <a:chExt cx="4139997" cy="79999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devuelve la raíz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734760" y="4520479"/>
            <a:ext cx="7819053" cy="619049"/>
            <a:chOff x="0" y="0"/>
            <a:chExt cx="10425405" cy="82539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939290" y="4530004"/>
            <a:ext cx="4350001" cy="599999"/>
            <a:chOff x="0" y="0"/>
            <a:chExt cx="5800001" cy="7999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crearRaiz(dato)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289291" y="4530004"/>
            <a:ext cx="3104998" cy="599999"/>
            <a:chOff x="0" y="0"/>
            <a:chExt cx="4139997" cy="79999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pone la primera raíz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734760" y="5210470"/>
            <a:ext cx="7819053" cy="619049"/>
            <a:chOff x="0" y="0"/>
            <a:chExt cx="10425405" cy="82539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939290" y="5219995"/>
            <a:ext cx="4350001" cy="599999"/>
            <a:chOff x="0" y="0"/>
            <a:chExt cx="5800001" cy="79999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agregarIzquierdo(padre, dato)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289291" y="5219995"/>
            <a:ext cx="3104998" cy="599999"/>
            <a:chOff x="0" y="0"/>
            <a:chExt cx="4139997" cy="79999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cuelga un hijo nuevo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734760" y="5900471"/>
            <a:ext cx="7819053" cy="619049"/>
            <a:chOff x="0" y="0"/>
            <a:chExt cx="10425405" cy="82539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9939290" y="5909996"/>
            <a:ext cx="4350001" cy="599999"/>
            <a:chOff x="0" y="0"/>
            <a:chExt cx="5800001" cy="79999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agregarDerecho(padre, dato)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289291" y="5909996"/>
            <a:ext cx="3104998" cy="599999"/>
            <a:chOff x="0" y="0"/>
            <a:chExt cx="4139997" cy="79999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igual, del lado derecho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734760" y="6590471"/>
            <a:ext cx="7819053" cy="619049"/>
            <a:chOff x="0" y="0"/>
            <a:chExt cx="10425405" cy="82539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9939290" y="6599996"/>
            <a:ext cx="4350001" cy="599999"/>
            <a:chOff x="0" y="0"/>
            <a:chExt cx="5800001" cy="79999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contarNodos()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289291" y="6599996"/>
            <a:ext cx="3104998" cy="599999"/>
            <a:chOff x="0" y="0"/>
            <a:chExt cx="4139997" cy="79999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cuenta todos los nodos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734760" y="7280472"/>
            <a:ext cx="7819053" cy="619049"/>
            <a:chOff x="0" y="0"/>
            <a:chExt cx="10425405" cy="82539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9939290" y="7289997"/>
            <a:ext cx="4350001" cy="599999"/>
            <a:chOff x="0" y="0"/>
            <a:chExt cx="5800001" cy="79999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contarHojas()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289291" y="7289997"/>
            <a:ext cx="3104998" cy="599999"/>
            <a:chOff x="0" y="0"/>
            <a:chExt cx="4139997" cy="79999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cuenta las hojas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734760" y="7970472"/>
            <a:ext cx="7819053" cy="619049"/>
            <a:chOff x="0" y="0"/>
            <a:chExt cx="10425405" cy="82539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425430" cy="825373"/>
            </a:xfrm>
            <a:custGeom>
              <a:avLst/>
              <a:gdLst/>
              <a:ahLst/>
              <a:cxnLst/>
              <a:rect r="r" b="b" t="t" l="l"/>
              <a:pathLst>
                <a:path h="825373" w="10425430">
                  <a:moveTo>
                    <a:pt x="0" y="99060"/>
                  </a:moveTo>
                  <a:cubicBezTo>
                    <a:pt x="0" y="44323"/>
                    <a:pt x="44323" y="0"/>
                    <a:pt x="99060" y="0"/>
                  </a:cubicBezTo>
                  <a:lnTo>
                    <a:pt x="10326370" y="0"/>
                  </a:lnTo>
                  <a:cubicBezTo>
                    <a:pt x="10381107" y="0"/>
                    <a:pt x="10425430" y="44323"/>
                    <a:pt x="10425430" y="99060"/>
                  </a:cubicBezTo>
                  <a:lnTo>
                    <a:pt x="10425430" y="726313"/>
                  </a:lnTo>
                  <a:cubicBezTo>
                    <a:pt x="10425430" y="781050"/>
                    <a:pt x="10381107" y="825373"/>
                    <a:pt x="10326370" y="825373"/>
                  </a:cubicBezTo>
                  <a:lnTo>
                    <a:pt x="99060" y="825373"/>
                  </a:lnTo>
                  <a:cubicBezTo>
                    <a:pt x="44323" y="825373"/>
                    <a:pt x="0" y="781050"/>
                    <a:pt x="0" y="72631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9939290" y="7979997"/>
            <a:ext cx="4350001" cy="599999"/>
            <a:chOff x="0" y="0"/>
            <a:chExt cx="5800001" cy="79999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80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5800000">
                  <a:moveTo>
                    <a:pt x="0" y="0"/>
                  </a:moveTo>
                  <a:lnTo>
                    <a:pt x="5800000" y="0"/>
                  </a:lnTo>
                  <a:lnTo>
                    <a:pt x="580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5800001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altura()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4289291" y="7979997"/>
            <a:ext cx="3104998" cy="599999"/>
            <a:chOff x="0" y="0"/>
            <a:chExt cx="4139997" cy="79999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4140000" cy="800000"/>
            </a:xfrm>
            <a:custGeom>
              <a:avLst/>
              <a:gdLst/>
              <a:ahLst/>
              <a:cxnLst/>
              <a:rect r="r" b="b" t="t" l="l"/>
              <a:pathLst>
                <a:path h="800000" w="4140000">
                  <a:moveTo>
                    <a:pt x="0" y="0"/>
                  </a:moveTo>
                  <a:lnTo>
                    <a:pt x="4140000" y="0"/>
                  </a:lnTo>
                  <a:lnTo>
                    <a:pt x="4140000" y="800000"/>
                  </a:lnTo>
                  <a:lnTo>
                    <a:pt x="0" y="8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4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0"/>
              <a:ext cx="4139997" cy="799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camino más largo, en aristas</a:t>
              </a:r>
            </a:p>
          </p:txBody>
        </p:sp>
      </p:grpSp>
      <p:sp>
        <p:nvSpPr>
          <p:cNvPr name="TextBox 162" id="162"/>
          <p:cNvSpPr txBox="true"/>
          <p:nvPr/>
        </p:nvSpPr>
        <p:spPr>
          <a:xfrm rot="0">
            <a:off x="1219200" y="6901424"/>
            <a:ext cx="7800003" cy="41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LAS TRES CAPAS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1209675" y="7490479"/>
            <a:ext cx="1969046" cy="694049"/>
            <a:chOff x="0" y="0"/>
            <a:chExt cx="2625395" cy="92539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625344" cy="925322"/>
            </a:xfrm>
            <a:custGeom>
              <a:avLst/>
              <a:gdLst/>
              <a:ahLst/>
              <a:cxnLst/>
              <a:rect r="r" b="b" t="t" l="l"/>
              <a:pathLst>
                <a:path h="925322" w="2625344">
                  <a:moveTo>
                    <a:pt x="0" y="462661"/>
                  </a:moveTo>
                  <a:cubicBezTo>
                    <a:pt x="0" y="207137"/>
                    <a:pt x="207137" y="0"/>
                    <a:pt x="462661" y="0"/>
                  </a:cubicBezTo>
                  <a:lnTo>
                    <a:pt x="2162683" y="0"/>
                  </a:lnTo>
                  <a:cubicBezTo>
                    <a:pt x="2418207" y="0"/>
                    <a:pt x="2625344" y="207137"/>
                    <a:pt x="2625344" y="462661"/>
                  </a:cubicBezTo>
                  <a:cubicBezTo>
                    <a:pt x="2625344" y="718185"/>
                    <a:pt x="2418207" y="925322"/>
                    <a:pt x="2162683" y="925322"/>
                  </a:cubicBezTo>
                  <a:lnTo>
                    <a:pt x="462661" y="925322"/>
                  </a:lnTo>
                  <a:cubicBezTo>
                    <a:pt x="207137" y="925449"/>
                    <a:pt x="0" y="718185"/>
                    <a:pt x="0" y="46266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2625395" cy="93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3909679" y="7490479"/>
            <a:ext cx="1969046" cy="694049"/>
            <a:chOff x="0" y="0"/>
            <a:chExt cx="2625395" cy="92539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625344" cy="925322"/>
            </a:xfrm>
            <a:custGeom>
              <a:avLst/>
              <a:gdLst/>
              <a:ahLst/>
              <a:cxnLst/>
              <a:rect r="r" b="b" t="t" l="l"/>
              <a:pathLst>
                <a:path h="925322" w="2625344">
                  <a:moveTo>
                    <a:pt x="0" y="462661"/>
                  </a:moveTo>
                  <a:cubicBezTo>
                    <a:pt x="0" y="207137"/>
                    <a:pt x="207137" y="0"/>
                    <a:pt x="462661" y="0"/>
                  </a:cubicBezTo>
                  <a:lnTo>
                    <a:pt x="2162683" y="0"/>
                  </a:lnTo>
                  <a:cubicBezTo>
                    <a:pt x="2418207" y="0"/>
                    <a:pt x="2625344" y="207137"/>
                    <a:pt x="2625344" y="462661"/>
                  </a:cubicBezTo>
                  <a:cubicBezTo>
                    <a:pt x="2625344" y="718185"/>
                    <a:pt x="2418207" y="925322"/>
                    <a:pt x="2162683" y="925322"/>
                  </a:cubicBezTo>
                  <a:lnTo>
                    <a:pt x="462661" y="925322"/>
                  </a:lnTo>
                  <a:cubicBezTo>
                    <a:pt x="207137" y="925449"/>
                    <a:pt x="0" y="718185"/>
                    <a:pt x="0" y="46266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68" id="168"/>
            <p:cNvSpPr txBox="true"/>
            <p:nvPr/>
          </p:nvSpPr>
          <p:spPr>
            <a:xfrm>
              <a:off x="0" y="-9525"/>
              <a:ext cx="2625395" cy="93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negocio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6609674" y="7490479"/>
            <a:ext cx="1969046" cy="694049"/>
            <a:chOff x="0" y="0"/>
            <a:chExt cx="2625395" cy="92539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625344" cy="925322"/>
            </a:xfrm>
            <a:custGeom>
              <a:avLst/>
              <a:gdLst/>
              <a:ahLst/>
              <a:cxnLst/>
              <a:rect r="r" b="b" t="t" l="l"/>
              <a:pathLst>
                <a:path h="925322" w="2625344">
                  <a:moveTo>
                    <a:pt x="0" y="462661"/>
                  </a:moveTo>
                  <a:cubicBezTo>
                    <a:pt x="0" y="207137"/>
                    <a:pt x="207137" y="0"/>
                    <a:pt x="462661" y="0"/>
                  </a:cubicBezTo>
                  <a:lnTo>
                    <a:pt x="2162683" y="0"/>
                  </a:lnTo>
                  <a:cubicBezTo>
                    <a:pt x="2418207" y="0"/>
                    <a:pt x="2625344" y="207137"/>
                    <a:pt x="2625344" y="462661"/>
                  </a:cubicBezTo>
                  <a:cubicBezTo>
                    <a:pt x="2625344" y="718185"/>
                    <a:pt x="2418207" y="925322"/>
                    <a:pt x="2162683" y="925322"/>
                  </a:cubicBezTo>
                  <a:lnTo>
                    <a:pt x="462661" y="925322"/>
                  </a:lnTo>
                  <a:cubicBezTo>
                    <a:pt x="207137" y="925449"/>
                    <a:pt x="0" y="718185"/>
                    <a:pt x="0" y="46266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2625395" cy="93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modelo</a:t>
              </a:r>
            </a:p>
          </p:txBody>
        </p:sp>
      </p:grpSp>
      <p:sp>
        <p:nvSpPr>
          <p:cNvPr name="AutoShape 172" id="172"/>
          <p:cNvSpPr/>
          <p:nvPr/>
        </p:nvSpPr>
        <p:spPr>
          <a:xfrm rot="126120">
            <a:off x="3154651" y="7827978"/>
            <a:ext cx="77909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3" id="173"/>
          <p:cNvSpPr/>
          <p:nvPr/>
        </p:nvSpPr>
        <p:spPr>
          <a:xfrm rot="126120">
            <a:off x="5854646" y="7827978"/>
            <a:ext cx="77909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4" id="174"/>
          <p:cNvSpPr txBox="true"/>
          <p:nvPr/>
        </p:nvSpPr>
        <p:spPr>
          <a:xfrm rot="0">
            <a:off x="1219200" y="8352377"/>
            <a:ext cx="7800003" cy="64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Cada capa solo usa a la siguiente.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526514" y="-1215658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F7A66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OPERACIONES DEL NEGOCIO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crearRaiz() y agregarIzquierdo()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9200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12261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Nodo&lt;T&gt; crearRaiz(T dato)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3065478" y="3215478"/>
            <a:ext cx="2269046" cy="589055"/>
            <a:chOff x="0" y="0"/>
            <a:chExt cx="3025394" cy="7854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5126640">
            <a:off x="4020141" y="3950475"/>
            <a:ext cx="3597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2235708" y="4110714"/>
            <a:ext cx="3928577" cy="1228573"/>
            <a:chOff x="0" y="0"/>
            <a:chExt cx="5238102" cy="163809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38115" cy="1638046"/>
            </a:xfrm>
            <a:custGeom>
              <a:avLst/>
              <a:gdLst/>
              <a:ahLst/>
              <a:cxnLst/>
              <a:rect r="r" b="b" t="t" l="l"/>
              <a:pathLst>
                <a:path h="1638046" w="5238115">
                  <a:moveTo>
                    <a:pt x="0" y="819023"/>
                  </a:moveTo>
                  <a:lnTo>
                    <a:pt x="2618994" y="0"/>
                  </a:lnTo>
                  <a:lnTo>
                    <a:pt x="5238115" y="819023"/>
                  </a:lnTo>
                  <a:lnTo>
                    <a:pt x="2618994" y="1638046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2795997" y="4341000"/>
            <a:ext cx="2807999" cy="768001"/>
            <a:chOff x="0" y="0"/>
            <a:chExt cx="3743998" cy="102400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44000" cy="1024000"/>
            </a:xfrm>
            <a:custGeom>
              <a:avLst/>
              <a:gdLst/>
              <a:ahLst/>
              <a:cxnLst/>
              <a:rect r="r" b="b" t="t" l="l"/>
              <a:pathLst>
                <a:path h="10240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1024000"/>
                  </a:lnTo>
                  <a:lnTo>
                    <a:pt x="0" y="10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42" r="0" b="-2124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743998" cy="10240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raiz != null?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242999">
            <a:off x="6135205" y="4715475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5" id="85"/>
          <p:cNvSpPr txBox="true"/>
          <p:nvPr/>
        </p:nvSpPr>
        <p:spPr>
          <a:xfrm rot="0">
            <a:off x="6149997" y="431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515471" y="4190476"/>
            <a:ext cx="2569054" cy="1069048"/>
            <a:chOff x="0" y="0"/>
            <a:chExt cx="3425406" cy="142539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25444" cy="1425448"/>
            </a:xfrm>
            <a:custGeom>
              <a:avLst/>
              <a:gdLst/>
              <a:ahLst/>
              <a:cxnLst/>
              <a:rect r="r" b="b" t="t" l="l"/>
              <a:pathLst>
                <a:path h="1425448" w="3425444">
                  <a:moveTo>
                    <a:pt x="0" y="237617"/>
                  </a:moveTo>
                  <a:cubicBezTo>
                    <a:pt x="0" y="106426"/>
                    <a:pt x="106426" y="0"/>
                    <a:pt x="237617" y="0"/>
                  </a:cubicBezTo>
                  <a:lnTo>
                    <a:pt x="3187827" y="0"/>
                  </a:lnTo>
                  <a:cubicBezTo>
                    <a:pt x="3319018" y="0"/>
                    <a:pt x="3425444" y="106426"/>
                    <a:pt x="3425444" y="237617"/>
                  </a:cubicBezTo>
                  <a:lnTo>
                    <a:pt x="3425444" y="1187831"/>
                  </a:lnTo>
                  <a:cubicBezTo>
                    <a:pt x="3425444" y="1319022"/>
                    <a:pt x="3319018" y="1425448"/>
                    <a:pt x="3187827" y="1425448"/>
                  </a:cubicBezTo>
                  <a:lnTo>
                    <a:pt x="237617" y="1425448"/>
                  </a:lnTo>
                  <a:cubicBezTo>
                    <a:pt x="106426" y="1425448"/>
                    <a:pt x="0" y="1319022"/>
                    <a:pt x="0" y="1187831"/>
                  </a:cubicBezTo>
                  <a:close/>
                </a:path>
              </a:pathLst>
            </a:custGeom>
            <a:solidFill>
              <a:srgbClr val="EFEBDD"/>
            </a:solidFill>
            <a:ln w="19050" cap="sq">
              <a:solidFill>
                <a:srgbClr val="5A6A64"/>
              </a:solidFill>
              <a:prstDash val="dash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3425406" cy="1434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error: el árbol</a:t>
              </a:r>
            </a:p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ya tiene raíz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5222700">
            <a:off x="3922843" y="5577973"/>
            <a:ext cx="5543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0" id="90"/>
          <p:cNvSpPr txBox="true"/>
          <p:nvPr/>
        </p:nvSpPr>
        <p:spPr>
          <a:xfrm rot="0">
            <a:off x="4350001" y="5370004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2160708" y="5835710"/>
            <a:ext cx="4078576" cy="628574"/>
            <a:chOff x="0" y="0"/>
            <a:chExt cx="5438102" cy="83809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38140" cy="838073"/>
            </a:xfrm>
            <a:custGeom>
              <a:avLst/>
              <a:gdLst/>
              <a:ahLst/>
              <a:cxnLst/>
              <a:rect r="r" b="b" t="t" l="l"/>
              <a:pathLst>
                <a:path h="838073" w="5438140">
                  <a:moveTo>
                    <a:pt x="0" y="0"/>
                  </a:moveTo>
                  <a:lnTo>
                    <a:pt x="5438140" y="0"/>
                  </a:lnTo>
                  <a:lnTo>
                    <a:pt x="5438140" y="838073"/>
                  </a:lnTo>
                  <a:lnTo>
                    <a:pt x="0" y="838073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5438102" cy="83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raiz = new Nodo(dato)</a:t>
              </a:r>
            </a:p>
          </p:txBody>
        </p:sp>
      </p:grpSp>
      <p:sp>
        <p:nvSpPr>
          <p:cNvPr name="AutoShape 94" id="94"/>
          <p:cNvSpPr/>
          <p:nvPr/>
        </p:nvSpPr>
        <p:spPr>
          <a:xfrm rot="5156999">
            <a:off x="3997709" y="6627971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5" id="95"/>
          <p:cNvGrpSpPr/>
          <p:nvPr/>
        </p:nvGrpSpPr>
        <p:grpSpPr>
          <a:xfrm rot="0">
            <a:off x="2840479" y="6815471"/>
            <a:ext cx="2719054" cy="589055"/>
            <a:chOff x="0" y="0"/>
            <a:chExt cx="3625405" cy="78540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25342" cy="785368"/>
            </a:xfrm>
            <a:custGeom>
              <a:avLst/>
              <a:gdLst/>
              <a:ahLst/>
              <a:cxnLst/>
              <a:rect r="r" b="b" t="t" l="l"/>
              <a:pathLst>
                <a:path h="785368" w="3625342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3232658" y="0"/>
                  </a:lnTo>
                  <a:cubicBezTo>
                    <a:pt x="3449574" y="0"/>
                    <a:pt x="3625342" y="175768"/>
                    <a:pt x="3625342" y="392684"/>
                  </a:cubicBezTo>
                  <a:cubicBezTo>
                    <a:pt x="3625342" y="609600"/>
                    <a:pt x="3449574" y="785368"/>
                    <a:pt x="3232658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625405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raiz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1219200" y="7902378"/>
            <a:ext cx="7500004" cy="88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agregarDerecho() hace lo mismo con el lado derecho.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744285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12261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Nodo&lt;T&gt; agregarIzquierdo(padre, dato)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0790472" y="3215478"/>
            <a:ext cx="2269046" cy="589055"/>
            <a:chOff x="0" y="0"/>
            <a:chExt cx="3025394" cy="78540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 rot="5126639">
            <a:off x="11745144" y="3950475"/>
            <a:ext cx="359712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4" id="104"/>
          <p:cNvGrpSpPr/>
          <p:nvPr/>
        </p:nvGrpSpPr>
        <p:grpSpPr>
          <a:xfrm rot="0">
            <a:off x="9660712" y="4110714"/>
            <a:ext cx="4528576" cy="1078573"/>
            <a:chOff x="0" y="0"/>
            <a:chExt cx="6038101" cy="143809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038088" cy="1438148"/>
            </a:xfrm>
            <a:custGeom>
              <a:avLst/>
              <a:gdLst/>
              <a:ahLst/>
              <a:cxnLst/>
              <a:rect r="r" b="b" t="t" l="l"/>
              <a:pathLst>
                <a:path h="1438148" w="6038088">
                  <a:moveTo>
                    <a:pt x="0" y="719074"/>
                  </a:moveTo>
                  <a:lnTo>
                    <a:pt x="3019044" y="0"/>
                  </a:lnTo>
                  <a:lnTo>
                    <a:pt x="6038088" y="719074"/>
                  </a:lnTo>
                  <a:lnTo>
                    <a:pt x="3019044" y="1438148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305002" y="4313996"/>
            <a:ext cx="3239995" cy="671998"/>
            <a:chOff x="0" y="0"/>
            <a:chExt cx="4319994" cy="89599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320000" cy="896000"/>
            </a:xfrm>
            <a:custGeom>
              <a:avLst/>
              <a:gdLst/>
              <a:ahLst/>
              <a:cxnLst/>
              <a:rect r="r" b="b" t="t" l="l"/>
              <a:pathLst>
                <a:path h="896000" w="4320000">
                  <a:moveTo>
                    <a:pt x="0" y="0"/>
                  </a:moveTo>
                  <a:lnTo>
                    <a:pt x="4320000" y="0"/>
                  </a:lnTo>
                  <a:lnTo>
                    <a:pt x="4320000" y="896000"/>
                  </a:lnTo>
                  <a:lnTo>
                    <a:pt x="0" y="8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4319994" cy="89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padre == null?</a:t>
              </a:r>
            </a:p>
          </p:txBody>
        </p:sp>
      </p:grpSp>
      <p:sp>
        <p:nvSpPr>
          <p:cNvPr name="AutoShape 109" id="109"/>
          <p:cNvSpPr/>
          <p:nvPr/>
        </p:nvSpPr>
        <p:spPr>
          <a:xfrm rot="243000">
            <a:off x="14160208" y="4640475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0" id="110"/>
          <p:cNvSpPr txBox="true"/>
          <p:nvPr/>
        </p:nvSpPr>
        <p:spPr>
          <a:xfrm rot="0">
            <a:off x="14130004" y="4259999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14540474" y="4175474"/>
            <a:ext cx="2944054" cy="949052"/>
            <a:chOff x="0" y="0"/>
            <a:chExt cx="3925405" cy="126540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925443" cy="1265428"/>
            </a:xfrm>
            <a:custGeom>
              <a:avLst/>
              <a:gdLst/>
              <a:ahLst/>
              <a:cxnLst/>
              <a:rect r="r" b="b" t="t" l="l"/>
              <a:pathLst>
                <a:path h="1265428" w="3925443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714496" y="0"/>
                  </a:lnTo>
                  <a:cubicBezTo>
                    <a:pt x="3830955" y="0"/>
                    <a:pt x="3925443" y="94488"/>
                    <a:pt x="3925443" y="210947"/>
                  </a:cubicBezTo>
                  <a:lnTo>
                    <a:pt x="3925443" y="1054481"/>
                  </a:lnTo>
                  <a:cubicBezTo>
                    <a:pt x="3925443" y="1170940"/>
                    <a:pt x="3830955" y="1265428"/>
                    <a:pt x="3714496" y="1265428"/>
                  </a:cubicBezTo>
                  <a:lnTo>
                    <a:pt x="210947" y="1265428"/>
                  </a:lnTo>
                  <a:cubicBezTo>
                    <a:pt x="94488" y="1265428"/>
                    <a:pt x="0" y="1170940"/>
                    <a:pt x="0" y="1054481"/>
                  </a:cubicBezTo>
                  <a:close/>
                </a:path>
              </a:pathLst>
            </a:custGeom>
            <a:solidFill>
              <a:srgbClr val="EFEBDD"/>
            </a:solidFill>
            <a:ln w="19050" cap="sq">
              <a:solidFill>
                <a:srgbClr val="5A6A64"/>
              </a:solidFill>
              <a:prstDash val="dash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3925405" cy="1274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error: el padre</a:t>
              </a:r>
            </a:p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no puede ser null</a:t>
              </a:r>
            </a:p>
          </p:txBody>
        </p:sp>
      </p:grpSp>
      <p:sp>
        <p:nvSpPr>
          <p:cNvPr name="AutoShape 114" id="114"/>
          <p:cNvSpPr/>
          <p:nvPr/>
        </p:nvSpPr>
        <p:spPr>
          <a:xfrm rot="5101799">
            <a:off x="11760089" y="5315474"/>
            <a:ext cx="329813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5" id="115"/>
          <p:cNvSpPr txBox="true"/>
          <p:nvPr/>
        </p:nvSpPr>
        <p:spPr>
          <a:xfrm rot="0">
            <a:off x="12075004" y="5130003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9660712" y="5460711"/>
            <a:ext cx="4528576" cy="1228573"/>
            <a:chOff x="0" y="0"/>
            <a:chExt cx="6038101" cy="163809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038088" cy="1638046"/>
            </a:xfrm>
            <a:custGeom>
              <a:avLst/>
              <a:gdLst/>
              <a:ahLst/>
              <a:cxnLst/>
              <a:rect r="r" b="b" t="t" l="l"/>
              <a:pathLst>
                <a:path h="1638046" w="6038088">
                  <a:moveTo>
                    <a:pt x="0" y="819023"/>
                  </a:moveTo>
                  <a:lnTo>
                    <a:pt x="3019044" y="0"/>
                  </a:lnTo>
                  <a:lnTo>
                    <a:pt x="6038088" y="819023"/>
                  </a:lnTo>
                  <a:lnTo>
                    <a:pt x="3019044" y="1638046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305002" y="5690997"/>
            <a:ext cx="3239995" cy="768001"/>
            <a:chOff x="0" y="0"/>
            <a:chExt cx="4319994" cy="102400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320000" cy="1024000"/>
            </a:xfrm>
            <a:custGeom>
              <a:avLst/>
              <a:gdLst/>
              <a:ahLst/>
              <a:cxnLst/>
              <a:rect r="r" b="b" t="t" l="l"/>
              <a:pathLst>
                <a:path h="1024000" w="4320000">
                  <a:moveTo>
                    <a:pt x="0" y="0"/>
                  </a:moveTo>
                  <a:lnTo>
                    <a:pt x="4320000" y="0"/>
                  </a:lnTo>
                  <a:lnTo>
                    <a:pt x="4320000" y="1024000"/>
                  </a:lnTo>
                  <a:lnTo>
                    <a:pt x="0" y="10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4319994" cy="1033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padre.izquierdo != null?</a:t>
              </a:r>
            </a:p>
          </p:txBody>
        </p:sp>
      </p:grpSp>
      <p:sp>
        <p:nvSpPr>
          <p:cNvPr name="AutoShape 121" id="121"/>
          <p:cNvSpPr/>
          <p:nvPr/>
        </p:nvSpPr>
        <p:spPr>
          <a:xfrm rot="243000">
            <a:off x="14160208" y="6065472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2" id="122"/>
          <p:cNvSpPr txBox="true"/>
          <p:nvPr/>
        </p:nvSpPr>
        <p:spPr>
          <a:xfrm rot="0">
            <a:off x="14130004" y="5684996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14540474" y="5600471"/>
            <a:ext cx="2944054" cy="949052"/>
            <a:chOff x="0" y="0"/>
            <a:chExt cx="3925405" cy="126540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925443" cy="1265428"/>
            </a:xfrm>
            <a:custGeom>
              <a:avLst/>
              <a:gdLst/>
              <a:ahLst/>
              <a:cxnLst/>
              <a:rect r="r" b="b" t="t" l="l"/>
              <a:pathLst>
                <a:path h="1265428" w="3925443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714496" y="0"/>
                  </a:lnTo>
                  <a:cubicBezTo>
                    <a:pt x="3830955" y="0"/>
                    <a:pt x="3925443" y="94488"/>
                    <a:pt x="3925443" y="210947"/>
                  </a:cubicBezTo>
                  <a:lnTo>
                    <a:pt x="3925443" y="1054481"/>
                  </a:lnTo>
                  <a:cubicBezTo>
                    <a:pt x="3925443" y="1170940"/>
                    <a:pt x="3830955" y="1265428"/>
                    <a:pt x="3714496" y="1265428"/>
                  </a:cubicBezTo>
                  <a:lnTo>
                    <a:pt x="210947" y="1265428"/>
                  </a:lnTo>
                  <a:cubicBezTo>
                    <a:pt x="94488" y="1265428"/>
                    <a:pt x="0" y="1170940"/>
                    <a:pt x="0" y="1054481"/>
                  </a:cubicBezTo>
                  <a:close/>
                </a:path>
              </a:pathLst>
            </a:custGeom>
            <a:solidFill>
              <a:srgbClr val="EFEBDD"/>
            </a:solidFill>
            <a:ln w="19050" cap="sq">
              <a:solidFill>
                <a:srgbClr val="5A6A64"/>
              </a:solidFill>
              <a:prstDash val="dash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3925405" cy="1274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error: el lugar</a:t>
              </a:r>
            </a:p>
            <a:p>
              <a:pPr algn="ctr">
                <a:lnSpc>
                  <a:spcPts val="2250"/>
                </a:lnSpc>
              </a:pPr>
              <a:r>
                <a:rPr lang="en-US" sz="18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ya está ocupado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 rot="5156999">
            <a:off x="11722703" y="6852971"/>
            <a:ext cx="404584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7" id="127"/>
          <p:cNvSpPr txBox="true"/>
          <p:nvPr/>
        </p:nvSpPr>
        <p:spPr>
          <a:xfrm rot="0">
            <a:off x="12075004" y="6689998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9435713" y="7035708"/>
            <a:ext cx="4978575" cy="928573"/>
            <a:chOff x="0" y="0"/>
            <a:chExt cx="6638099" cy="123809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638163" cy="1238123"/>
            </a:xfrm>
            <a:custGeom>
              <a:avLst/>
              <a:gdLst/>
              <a:ahLst/>
              <a:cxnLst/>
              <a:rect r="r" b="b" t="t" l="l"/>
              <a:pathLst>
                <a:path h="1238123" w="6638163">
                  <a:moveTo>
                    <a:pt x="0" y="0"/>
                  </a:moveTo>
                  <a:lnTo>
                    <a:pt x="6638163" y="0"/>
                  </a:lnTo>
                  <a:lnTo>
                    <a:pt x="6638163" y="1238123"/>
                  </a:lnTo>
                  <a:lnTo>
                    <a:pt x="0" y="1238123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6638099" cy="123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nuevo = new Nodo(dato)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padre.setIzquierdo(nuevo)</a:t>
              </a:r>
            </a:p>
          </p:txBody>
        </p:sp>
      </p:grpSp>
      <p:sp>
        <p:nvSpPr>
          <p:cNvPr name="AutoShape 131" id="131"/>
          <p:cNvSpPr/>
          <p:nvPr/>
        </p:nvSpPr>
        <p:spPr>
          <a:xfrm rot="5101799">
            <a:off x="11760089" y="8090478"/>
            <a:ext cx="329813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2" id="132"/>
          <p:cNvGrpSpPr/>
          <p:nvPr/>
        </p:nvGrpSpPr>
        <p:grpSpPr>
          <a:xfrm rot="0">
            <a:off x="10565473" y="8240478"/>
            <a:ext cx="2719054" cy="589055"/>
            <a:chOff x="0" y="0"/>
            <a:chExt cx="3625405" cy="78540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625342" cy="785368"/>
            </a:xfrm>
            <a:custGeom>
              <a:avLst/>
              <a:gdLst/>
              <a:ahLst/>
              <a:cxnLst/>
              <a:rect r="r" b="b" t="t" l="l"/>
              <a:pathLst>
                <a:path h="785368" w="3625342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3232658" y="0"/>
                  </a:lnTo>
                  <a:cubicBezTo>
                    <a:pt x="3449574" y="0"/>
                    <a:pt x="3625342" y="175768"/>
                    <a:pt x="3625342" y="392684"/>
                  </a:cubicBezTo>
                  <a:cubicBezTo>
                    <a:pt x="3625342" y="609600"/>
                    <a:pt x="3449574" y="785368"/>
                    <a:pt x="3232658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3625405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nuevo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644286" y="4674996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692476" y="-1230651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OPERACIONES DEL NEGOCIO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contarNodos() y contarHojas()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9200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b="true" sz="1950">
                <a:solidFill>
                  <a:srgbClr val="17415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 contarNodos(Nodo&lt;T&gt; nodo)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3965477" y="3215478"/>
            <a:ext cx="2269046" cy="589055"/>
            <a:chOff x="0" y="0"/>
            <a:chExt cx="3025394" cy="7854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5054759">
            <a:off x="4957496" y="3912975"/>
            <a:ext cx="2850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3135716" y="4035714"/>
            <a:ext cx="3928577" cy="1078573"/>
            <a:chOff x="0" y="0"/>
            <a:chExt cx="5238102" cy="143809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38115" cy="1438148"/>
            </a:xfrm>
            <a:custGeom>
              <a:avLst/>
              <a:gdLst/>
              <a:ahLst/>
              <a:cxnLst/>
              <a:rect r="r" b="b" t="t" l="l"/>
              <a:pathLst>
                <a:path h="1438148" w="5238115">
                  <a:moveTo>
                    <a:pt x="0" y="719074"/>
                  </a:moveTo>
                  <a:lnTo>
                    <a:pt x="2618994" y="0"/>
                  </a:lnTo>
                  <a:lnTo>
                    <a:pt x="5238115" y="719074"/>
                  </a:lnTo>
                  <a:lnTo>
                    <a:pt x="2618994" y="1438148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3695995" y="4238996"/>
            <a:ext cx="2807999" cy="671998"/>
            <a:chOff x="0" y="0"/>
            <a:chExt cx="3743998" cy="8959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44000" cy="896000"/>
            </a:xfrm>
            <a:custGeom>
              <a:avLst/>
              <a:gdLst/>
              <a:ahLst/>
              <a:cxnLst/>
              <a:rect r="r" b="b" t="t" l="l"/>
              <a:pathLst>
                <a:path h="8960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896000"/>
                  </a:lnTo>
                  <a:lnTo>
                    <a:pt x="0" y="8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743998" cy="89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nodo == null?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205020">
            <a:off x="7035289" y="4565475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5" id="85"/>
          <p:cNvSpPr txBox="true"/>
          <p:nvPr/>
        </p:nvSpPr>
        <p:spPr>
          <a:xfrm rot="0">
            <a:off x="7124995" y="416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490479" y="4280478"/>
            <a:ext cx="1669047" cy="589055"/>
            <a:chOff x="0" y="0"/>
            <a:chExt cx="2225396" cy="7854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25421" cy="785368"/>
            </a:xfrm>
            <a:custGeom>
              <a:avLst/>
              <a:gdLst/>
              <a:ahLst/>
              <a:cxnLst/>
              <a:rect r="r" b="b" t="t" l="l"/>
              <a:pathLst>
                <a:path h="785368" w="2225421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1832737" y="0"/>
                  </a:lnTo>
                  <a:cubicBezTo>
                    <a:pt x="2049653" y="0"/>
                    <a:pt x="2225421" y="175768"/>
                    <a:pt x="2225421" y="392684"/>
                  </a:cubicBezTo>
                  <a:cubicBezTo>
                    <a:pt x="2225421" y="609600"/>
                    <a:pt x="2049653" y="785368"/>
                    <a:pt x="1832737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225396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0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5260439">
            <a:off x="4747927" y="5427974"/>
            <a:ext cx="704155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0" id="90"/>
          <p:cNvSpPr txBox="true"/>
          <p:nvPr/>
        </p:nvSpPr>
        <p:spPr>
          <a:xfrm rot="0">
            <a:off x="5249999" y="5174999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2315470" y="5802973"/>
            <a:ext cx="5569048" cy="1444047"/>
            <a:chOff x="0" y="0"/>
            <a:chExt cx="7425398" cy="19253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425436" cy="1925447"/>
            </a:xfrm>
            <a:custGeom>
              <a:avLst/>
              <a:gdLst/>
              <a:ahLst/>
              <a:cxnLst/>
              <a:rect r="r" b="b" t="t" l="l"/>
              <a:pathLst>
                <a:path h="1925447" w="7425436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7078852" y="0"/>
                  </a:lnTo>
                  <a:cubicBezTo>
                    <a:pt x="7270242" y="0"/>
                    <a:pt x="7425436" y="155194"/>
                    <a:pt x="7425436" y="346583"/>
                  </a:cubicBezTo>
                  <a:lnTo>
                    <a:pt x="7425436" y="1578864"/>
                  </a:lnTo>
                  <a:cubicBezTo>
                    <a:pt x="7425436" y="1770253"/>
                    <a:pt x="7270242" y="1925447"/>
                    <a:pt x="7078852" y="1925447"/>
                  </a:cubicBezTo>
                  <a:lnTo>
                    <a:pt x="346583" y="1925447"/>
                  </a:lnTo>
                  <a:cubicBezTo>
                    <a:pt x="155194" y="1925447"/>
                    <a:pt x="0" y="1770253"/>
                    <a:pt x="0" y="157886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7425398" cy="192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1 +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contarNodos(izquierdo) +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contarNodos(derecho)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219200" y="7602379"/>
            <a:ext cx="7800003" cy="88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Cada llamada resuelve un subárbol más pequeño, hasta llegar a null.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744285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 b="true">
                <a:solidFill>
                  <a:srgbClr val="12261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 contarHojas(Nodo&lt;T&gt; nodo)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2215479" y="3215478"/>
            <a:ext cx="2269046" cy="589055"/>
            <a:chOff x="0" y="0"/>
            <a:chExt cx="3025394" cy="78540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5054759">
            <a:off x="13207498" y="3912975"/>
            <a:ext cx="2850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0" id="100"/>
          <p:cNvGrpSpPr/>
          <p:nvPr/>
        </p:nvGrpSpPr>
        <p:grpSpPr>
          <a:xfrm rot="0">
            <a:off x="11385709" y="4035714"/>
            <a:ext cx="3928577" cy="1078573"/>
            <a:chOff x="0" y="0"/>
            <a:chExt cx="5238102" cy="143809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238115" cy="1438148"/>
            </a:xfrm>
            <a:custGeom>
              <a:avLst/>
              <a:gdLst/>
              <a:ahLst/>
              <a:cxnLst/>
              <a:rect r="r" b="b" t="t" l="l"/>
              <a:pathLst>
                <a:path h="1438148" w="5238115">
                  <a:moveTo>
                    <a:pt x="0" y="719074"/>
                  </a:moveTo>
                  <a:lnTo>
                    <a:pt x="2618994" y="0"/>
                  </a:lnTo>
                  <a:lnTo>
                    <a:pt x="5238115" y="719074"/>
                  </a:lnTo>
                  <a:lnTo>
                    <a:pt x="2618994" y="1438148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945998" y="4238996"/>
            <a:ext cx="2807999" cy="671998"/>
            <a:chOff x="0" y="0"/>
            <a:chExt cx="3743998" cy="89599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744000" cy="896000"/>
            </a:xfrm>
            <a:custGeom>
              <a:avLst/>
              <a:gdLst/>
              <a:ahLst/>
              <a:cxnLst/>
              <a:rect r="r" b="b" t="t" l="l"/>
              <a:pathLst>
                <a:path h="8960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896000"/>
                  </a:lnTo>
                  <a:lnTo>
                    <a:pt x="0" y="8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3743998" cy="89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nodo == null?</a:t>
              </a:r>
            </a:p>
          </p:txBody>
        </p:sp>
      </p:grpSp>
      <p:sp>
        <p:nvSpPr>
          <p:cNvPr name="AutoShape 105" id="105"/>
          <p:cNvSpPr/>
          <p:nvPr/>
        </p:nvSpPr>
        <p:spPr>
          <a:xfrm rot="205019">
            <a:off x="15285282" y="4565475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6" id="106"/>
          <p:cNvSpPr txBox="true"/>
          <p:nvPr/>
        </p:nvSpPr>
        <p:spPr>
          <a:xfrm rot="0">
            <a:off x="15374998" y="416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5740472" y="4280478"/>
            <a:ext cx="1669047" cy="589055"/>
            <a:chOff x="0" y="0"/>
            <a:chExt cx="2225396" cy="78540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25421" cy="785368"/>
            </a:xfrm>
            <a:custGeom>
              <a:avLst/>
              <a:gdLst/>
              <a:ahLst/>
              <a:cxnLst/>
              <a:rect r="r" b="b" t="t" l="l"/>
              <a:pathLst>
                <a:path h="785368" w="2225421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1832737" y="0"/>
                  </a:lnTo>
                  <a:cubicBezTo>
                    <a:pt x="2049653" y="0"/>
                    <a:pt x="2225421" y="175768"/>
                    <a:pt x="2225421" y="392684"/>
                  </a:cubicBezTo>
                  <a:cubicBezTo>
                    <a:pt x="2225421" y="609600"/>
                    <a:pt x="2049653" y="785368"/>
                    <a:pt x="1832737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225396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0</a:t>
              </a:r>
            </a:p>
          </p:txBody>
        </p:sp>
      </p:grpSp>
      <p:sp>
        <p:nvSpPr>
          <p:cNvPr name="AutoShape 110" id="110"/>
          <p:cNvSpPr/>
          <p:nvPr/>
        </p:nvSpPr>
        <p:spPr>
          <a:xfrm rot="5194979">
            <a:off x="13110286" y="5315474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1" id="111"/>
          <p:cNvSpPr txBox="true"/>
          <p:nvPr/>
        </p:nvSpPr>
        <p:spPr>
          <a:xfrm rot="0">
            <a:off x="13500002" y="5130003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1385709" y="5535711"/>
            <a:ext cx="3928577" cy="1078573"/>
            <a:chOff x="0" y="0"/>
            <a:chExt cx="5238102" cy="143809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238115" cy="1438148"/>
            </a:xfrm>
            <a:custGeom>
              <a:avLst/>
              <a:gdLst/>
              <a:ahLst/>
              <a:cxnLst/>
              <a:rect r="r" b="b" t="t" l="l"/>
              <a:pathLst>
                <a:path h="1438148" w="5238115">
                  <a:moveTo>
                    <a:pt x="0" y="719074"/>
                  </a:moveTo>
                  <a:lnTo>
                    <a:pt x="2618994" y="0"/>
                  </a:lnTo>
                  <a:lnTo>
                    <a:pt x="5238115" y="719074"/>
                  </a:lnTo>
                  <a:lnTo>
                    <a:pt x="2618994" y="1438148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945998" y="5739003"/>
            <a:ext cx="2807999" cy="671998"/>
            <a:chOff x="0" y="0"/>
            <a:chExt cx="3743998" cy="89599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744000" cy="896000"/>
            </a:xfrm>
            <a:custGeom>
              <a:avLst/>
              <a:gdLst/>
              <a:ahLst/>
              <a:cxnLst/>
              <a:rect r="r" b="b" t="t" l="l"/>
              <a:pathLst>
                <a:path h="8960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896000"/>
                  </a:lnTo>
                  <a:lnTo>
                    <a:pt x="0" y="8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3743998" cy="89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nodo.esHoja()?</a:t>
              </a:r>
            </a:p>
          </p:txBody>
        </p:sp>
      </p:grpSp>
      <p:sp>
        <p:nvSpPr>
          <p:cNvPr name="AutoShape 117" id="117"/>
          <p:cNvSpPr/>
          <p:nvPr/>
        </p:nvSpPr>
        <p:spPr>
          <a:xfrm rot="205020">
            <a:off x="15285282" y="6065472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8" id="118"/>
          <p:cNvSpPr txBox="true"/>
          <p:nvPr/>
        </p:nvSpPr>
        <p:spPr>
          <a:xfrm rot="0">
            <a:off x="15374998" y="5670004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15740472" y="5780475"/>
            <a:ext cx="1669047" cy="589055"/>
            <a:chOff x="0" y="0"/>
            <a:chExt cx="2225396" cy="78540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25421" cy="785368"/>
            </a:xfrm>
            <a:custGeom>
              <a:avLst/>
              <a:gdLst/>
              <a:ahLst/>
              <a:cxnLst/>
              <a:rect r="r" b="b" t="t" l="l"/>
              <a:pathLst>
                <a:path h="785368" w="2225421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1832737" y="0"/>
                  </a:lnTo>
                  <a:cubicBezTo>
                    <a:pt x="2049653" y="0"/>
                    <a:pt x="2225421" y="175768"/>
                    <a:pt x="2225421" y="392684"/>
                  </a:cubicBezTo>
                  <a:cubicBezTo>
                    <a:pt x="2225421" y="609600"/>
                    <a:pt x="2049653" y="785368"/>
                    <a:pt x="1832737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2225396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1</a:t>
              </a:r>
            </a:p>
          </p:txBody>
        </p:sp>
      </p:grpSp>
      <p:sp>
        <p:nvSpPr>
          <p:cNvPr name="AutoShape 122" id="122"/>
          <p:cNvSpPr/>
          <p:nvPr/>
        </p:nvSpPr>
        <p:spPr>
          <a:xfrm rot="5222700">
            <a:off x="13072843" y="6852971"/>
            <a:ext cx="5543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3" id="123"/>
          <p:cNvSpPr txBox="true"/>
          <p:nvPr/>
        </p:nvSpPr>
        <p:spPr>
          <a:xfrm rot="0">
            <a:off x="13500002" y="6630000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10415473" y="7152980"/>
            <a:ext cx="5869048" cy="1444047"/>
            <a:chOff x="0" y="0"/>
            <a:chExt cx="7825397" cy="192539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825359" cy="1925447"/>
            </a:xfrm>
            <a:custGeom>
              <a:avLst/>
              <a:gdLst/>
              <a:ahLst/>
              <a:cxnLst/>
              <a:rect r="r" b="b" t="t" l="l"/>
              <a:pathLst>
                <a:path h="1925447" w="782535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7478776" y="0"/>
                  </a:lnTo>
                  <a:cubicBezTo>
                    <a:pt x="7670165" y="0"/>
                    <a:pt x="7825359" y="155194"/>
                    <a:pt x="7825359" y="346583"/>
                  </a:cubicBezTo>
                  <a:lnTo>
                    <a:pt x="7825359" y="1578864"/>
                  </a:lnTo>
                  <a:cubicBezTo>
                    <a:pt x="7825359" y="1770253"/>
                    <a:pt x="7670165" y="1925447"/>
                    <a:pt x="7478776" y="1925447"/>
                  </a:cubicBezTo>
                  <a:lnTo>
                    <a:pt x="346583" y="1925447"/>
                  </a:lnTo>
                  <a:cubicBezTo>
                    <a:pt x="155194" y="1925447"/>
                    <a:pt x="0" y="1770253"/>
                    <a:pt x="0" y="157886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F7A66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7825397" cy="192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contarHojas(izquierdo) +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contarHojas(derecho)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538124" y="4650478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692476" y="-1353629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OPERACIONES DEL NEGOCIO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altura()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9200" y="2560949"/>
            <a:ext cx="7800003" cy="46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b="true" sz="1950">
                <a:solidFill>
                  <a:srgbClr val="17415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 altura(Nodo&lt;T&gt; nodo)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3965477" y="3215478"/>
            <a:ext cx="2269046" cy="589055"/>
            <a:chOff x="0" y="0"/>
            <a:chExt cx="3025394" cy="78540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25394" cy="785368"/>
            </a:xfrm>
            <a:custGeom>
              <a:avLst/>
              <a:gdLst/>
              <a:ahLst/>
              <a:cxnLst/>
              <a:rect r="r" b="b" t="t" l="l"/>
              <a:pathLst>
                <a:path h="785368" w="3025394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2632710" y="0"/>
                  </a:lnTo>
                  <a:cubicBezTo>
                    <a:pt x="2849626" y="0"/>
                    <a:pt x="3025394" y="175768"/>
                    <a:pt x="3025394" y="392684"/>
                  </a:cubicBezTo>
                  <a:cubicBezTo>
                    <a:pt x="3025394" y="609600"/>
                    <a:pt x="2849626" y="785368"/>
                    <a:pt x="2632710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025394" cy="78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Inicio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5054759">
            <a:off x="4957496" y="3912975"/>
            <a:ext cx="2850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3135716" y="4035714"/>
            <a:ext cx="3928577" cy="1078573"/>
            <a:chOff x="0" y="0"/>
            <a:chExt cx="5238102" cy="143809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38115" cy="1438148"/>
            </a:xfrm>
            <a:custGeom>
              <a:avLst/>
              <a:gdLst/>
              <a:ahLst/>
              <a:cxnLst/>
              <a:rect r="r" b="b" t="t" l="l"/>
              <a:pathLst>
                <a:path h="1438148" w="5238115">
                  <a:moveTo>
                    <a:pt x="0" y="719074"/>
                  </a:moveTo>
                  <a:lnTo>
                    <a:pt x="2618994" y="0"/>
                  </a:lnTo>
                  <a:lnTo>
                    <a:pt x="5238115" y="719074"/>
                  </a:lnTo>
                  <a:lnTo>
                    <a:pt x="2618994" y="1438148"/>
                  </a:lnTo>
                  <a:close/>
                </a:path>
              </a:pathLst>
            </a:custGeom>
            <a:solidFill>
              <a:srgbClr val="BECCDE"/>
            </a:solidFill>
            <a:ln w="28575" cap="sq">
              <a:solidFill>
                <a:srgbClr val="BECCDE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3695995" y="4238996"/>
            <a:ext cx="2807999" cy="671998"/>
            <a:chOff x="0" y="0"/>
            <a:chExt cx="3743998" cy="8959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44000" cy="896000"/>
            </a:xfrm>
            <a:custGeom>
              <a:avLst/>
              <a:gdLst/>
              <a:ahLst/>
              <a:cxnLst/>
              <a:rect r="r" b="b" t="t" l="l"/>
              <a:pathLst>
                <a:path h="896000" w="3744000">
                  <a:moveTo>
                    <a:pt x="0" y="0"/>
                  </a:moveTo>
                  <a:lnTo>
                    <a:pt x="3744000" y="0"/>
                  </a:lnTo>
                  <a:lnTo>
                    <a:pt x="3744000" y="896000"/>
                  </a:lnTo>
                  <a:lnTo>
                    <a:pt x="0" y="8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9" r="0" b="-3141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743998" cy="89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7"/>
                </a:lnSpc>
              </a:pPr>
              <a:r>
                <a:rPr lang="en-US" sz="19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nodo == null?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205020">
            <a:off x="7035289" y="4565475"/>
            <a:ext cx="47943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5" id="85"/>
          <p:cNvSpPr txBox="true"/>
          <p:nvPr/>
        </p:nvSpPr>
        <p:spPr>
          <a:xfrm rot="0">
            <a:off x="7124995" y="4169997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Sí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490479" y="4280478"/>
            <a:ext cx="1669047" cy="589055"/>
            <a:chOff x="0" y="0"/>
            <a:chExt cx="2225396" cy="78540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25421" cy="785368"/>
            </a:xfrm>
            <a:custGeom>
              <a:avLst/>
              <a:gdLst/>
              <a:ahLst/>
              <a:cxnLst/>
              <a:rect r="r" b="b" t="t" l="l"/>
              <a:pathLst>
                <a:path h="785368" w="2225421">
                  <a:moveTo>
                    <a:pt x="0" y="392684"/>
                  </a:moveTo>
                  <a:cubicBezTo>
                    <a:pt x="0" y="175768"/>
                    <a:pt x="175768" y="0"/>
                    <a:pt x="392684" y="0"/>
                  </a:cubicBezTo>
                  <a:lnTo>
                    <a:pt x="1832737" y="0"/>
                  </a:lnTo>
                  <a:cubicBezTo>
                    <a:pt x="2049653" y="0"/>
                    <a:pt x="2225421" y="175768"/>
                    <a:pt x="2225421" y="392684"/>
                  </a:cubicBezTo>
                  <a:cubicBezTo>
                    <a:pt x="2225421" y="609600"/>
                    <a:pt x="2049653" y="785368"/>
                    <a:pt x="1832737" y="785368"/>
                  </a:cubicBezTo>
                  <a:lnTo>
                    <a:pt x="392684" y="785368"/>
                  </a:lnTo>
                  <a:cubicBezTo>
                    <a:pt x="175768" y="785368"/>
                    <a:pt x="0" y="609600"/>
                    <a:pt x="0" y="392684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225396" cy="794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-1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5243820">
            <a:off x="4785389" y="5390474"/>
            <a:ext cx="62922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0" id="90"/>
          <p:cNvSpPr txBox="true"/>
          <p:nvPr/>
        </p:nvSpPr>
        <p:spPr>
          <a:xfrm rot="0">
            <a:off x="5249999" y="5174999"/>
            <a:ext cx="674999" cy="35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5A54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935709" y="5685711"/>
            <a:ext cx="6328572" cy="1078573"/>
            <a:chOff x="0" y="0"/>
            <a:chExt cx="8438096" cy="143809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438134" cy="1438148"/>
            </a:xfrm>
            <a:custGeom>
              <a:avLst/>
              <a:gdLst/>
              <a:ahLst/>
              <a:cxnLst/>
              <a:rect r="r" b="b" t="t" l="l"/>
              <a:pathLst>
                <a:path h="1438148" w="8438134">
                  <a:moveTo>
                    <a:pt x="0" y="0"/>
                  </a:moveTo>
                  <a:lnTo>
                    <a:pt x="8438134" y="0"/>
                  </a:lnTo>
                  <a:lnTo>
                    <a:pt x="8438134" y="1438148"/>
                  </a:lnTo>
                  <a:lnTo>
                    <a:pt x="0" y="1438148"/>
                  </a:ln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8438096" cy="1438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alturaIzq = altura(izquierdo)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12261F"/>
                  </a:solidFill>
                  <a:latin typeface="DM Sans"/>
                  <a:ea typeface="DM Sans"/>
                  <a:cs typeface="DM Sans"/>
                  <a:sym typeface="DM Sans"/>
                </a:rPr>
                <a:t>alturaDer = altura(derecho)</a:t>
              </a:r>
            </a:p>
          </p:txBody>
        </p:sp>
      </p:grpSp>
      <p:sp>
        <p:nvSpPr>
          <p:cNvPr name="AutoShape 94" id="94"/>
          <p:cNvSpPr/>
          <p:nvPr/>
        </p:nvSpPr>
        <p:spPr>
          <a:xfrm rot="5222700">
            <a:off x="4822841" y="7002970"/>
            <a:ext cx="55430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5" id="95"/>
          <p:cNvGrpSpPr/>
          <p:nvPr/>
        </p:nvGrpSpPr>
        <p:grpSpPr>
          <a:xfrm rot="0">
            <a:off x="1626184" y="7202434"/>
            <a:ext cx="6919046" cy="769048"/>
            <a:chOff x="0" y="0"/>
            <a:chExt cx="9225394" cy="10253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225407" cy="1025398"/>
            </a:xfrm>
            <a:custGeom>
              <a:avLst/>
              <a:gdLst/>
              <a:ahLst/>
              <a:cxnLst/>
              <a:rect r="r" b="b" t="t" l="l"/>
              <a:pathLst>
                <a:path h="1025398" w="9225407">
                  <a:moveTo>
                    <a:pt x="0" y="512699"/>
                  </a:moveTo>
                  <a:cubicBezTo>
                    <a:pt x="0" y="229489"/>
                    <a:pt x="229489" y="0"/>
                    <a:pt x="512699" y="0"/>
                  </a:cubicBezTo>
                  <a:lnTo>
                    <a:pt x="8712708" y="0"/>
                  </a:lnTo>
                  <a:cubicBezTo>
                    <a:pt x="8995918" y="0"/>
                    <a:pt x="9225407" y="229489"/>
                    <a:pt x="9225407" y="512699"/>
                  </a:cubicBezTo>
                  <a:cubicBezTo>
                    <a:pt x="9225407" y="795909"/>
                    <a:pt x="8995918" y="1025398"/>
                    <a:pt x="8712708" y="1025398"/>
                  </a:cubicBezTo>
                  <a:lnTo>
                    <a:pt x="512699" y="1025398"/>
                  </a:lnTo>
                  <a:cubicBezTo>
                    <a:pt x="229489" y="1025398"/>
                    <a:pt x="0" y="795909"/>
                    <a:pt x="0" y="512699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9225394" cy="103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devolver 1 + max(alturaIzq, alturaDer)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340473" y="2840479"/>
            <a:ext cx="7213340" cy="4519051"/>
            <a:chOff x="0" y="0"/>
            <a:chExt cx="9617786" cy="602540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617837" cy="6025388"/>
            </a:xfrm>
            <a:custGeom>
              <a:avLst/>
              <a:gdLst/>
              <a:ahLst/>
              <a:cxnLst/>
              <a:rect r="r" b="b" t="t" l="l"/>
              <a:pathLst>
                <a:path h="6025388" w="9617837">
                  <a:moveTo>
                    <a:pt x="0" y="241046"/>
                  </a:moveTo>
                  <a:cubicBezTo>
                    <a:pt x="0" y="107950"/>
                    <a:pt x="107950" y="0"/>
                    <a:pt x="241046" y="0"/>
                  </a:cubicBezTo>
                  <a:lnTo>
                    <a:pt x="9376791" y="0"/>
                  </a:lnTo>
                  <a:cubicBezTo>
                    <a:pt x="9509887" y="0"/>
                    <a:pt x="9617837" y="107950"/>
                    <a:pt x="9617837" y="241046"/>
                  </a:cubicBezTo>
                  <a:lnTo>
                    <a:pt x="9617837" y="5784342"/>
                  </a:lnTo>
                  <a:cubicBezTo>
                    <a:pt x="9617837" y="5917438"/>
                    <a:pt x="9509887" y="6025388"/>
                    <a:pt x="9376791" y="6025388"/>
                  </a:cubicBezTo>
                  <a:lnTo>
                    <a:pt x="241046" y="6025388"/>
                  </a:lnTo>
                  <a:cubicBezTo>
                    <a:pt x="107950" y="6025388"/>
                    <a:pt x="0" y="5917438"/>
                    <a:pt x="0" y="5784342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sp>
        <p:nvSpPr>
          <p:cNvPr name="TextBox 100" id="100"/>
          <p:cNvSpPr txBox="true"/>
          <p:nvPr/>
        </p:nvSpPr>
        <p:spPr>
          <a:xfrm rot="0">
            <a:off x="10724998" y="3027369"/>
            <a:ext cx="6444291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¿Por qué -1 para null?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Un árbol vacío mide -1.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Así una hoja mide 1 + max(-1, -1) = 0.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La altura cuenta aristas, no nodos.</a:t>
            </a:r>
          </a:p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Ejemplo</a:t>
            </a:r>
          </a:p>
          <a:p>
            <a:pPr algn="l">
              <a:lnSpc>
                <a:spcPts val="2940"/>
              </a:lnSpc>
            </a:pPr>
            <a:r>
              <a:rPr lang="en-US" sz="2100" spc="161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altura(CUE) = 0</a:t>
            </a:r>
          </a:p>
          <a:p>
            <a:pPr algn="l">
              <a:lnSpc>
                <a:spcPts val="2940"/>
              </a:lnSpc>
            </a:pPr>
            <a:r>
              <a:rPr lang="en-US" sz="2100" spc="161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altura(GYE) = 1 + max(0, 0) = 1</a:t>
            </a:r>
          </a:p>
          <a:p>
            <a:pPr algn="l">
              <a:lnSpc>
                <a:spcPts val="2940"/>
              </a:lnSpc>
            </a:pPr>
            <a:r>
              <a:rPr lang="en-US" sz="2100" spc="161">
                <a:solidFill>
                  <a:srgbClr val="17415F"/>
                </a:solidFill>
                <a:latin typeface="DM Sans"/>
                <a:ea typeface="DM Sans"/>
                <a:cs typeface="DM Sans"/>
                <a:sym typeface="DM Sans"/>
              </a:rPr>
              <a:t>altura(UIO) = 1 + max(1, 0) = 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EN JAVA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El Main usa las operaciones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19200" y="2775004"/>
            <a:ext cx="9000001" cy="6149997"/>
            <a:chOff x="0" y="0"/>
            <a:chExt cx="12000001" cy="81999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999976" cy="8200009"/>
            </a:xfrm>
            <a:custGeom>
              <a:avLst/>
              <a:gdLst/>
              <a:ahLst/>
              <a:cxnLst/>
              <a:rect r="r" b="b" t="t" l="l"/>
              <a:pathLst>
                <a:path h="8200009" w="11999976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11712956" y="0"/>
                  </a:lnTo>
                  <a:cubicBezTo>
                    <a:pt x="11871452" y="0"/>
                    <a:pt x="11999976" y="128524"/>
                    <a:pt x="11999976" y="287020"/>
                  </a:cubicBezTo>
                  <a:lnTo>
                    <a:pt x="11999976" y="7912989"/>
                  </a:lnTo>
                  <a:cubicBezTo>
                    <a:pt x="11999976" y="8071485"/>
                    <a:pt x="11871452" y="8200009"/>
                    <a:pt x="11712956" y="8200009"/>
                  </a:cubicBezTo>
                  <a:lnTo>
                    <a:pt x="287020" y="8200009"/>
                  </a:lnTo>
                  <a:cubicBezTo>
                    <a:pt x="128524" y="8200009"/>
                    <a:pt x="0" y="8071485"/>
                    <a:pt x="0" y="7912989"/>
                  </a:cubicBezTo>
                  <a:close/>
                </a:path>
              </a:pathLst>
            </a:custGeom>
            <a:solidFill>
              <a:srgbClr val="12261F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12000001" cy="827619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UIO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+-- I: GYE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|   +-- I: CUE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|   `-- D: LOH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`-- D: MEC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   `-- D: ESM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F6F4E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contarNodos()  -&gt; 6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contarHojas()  -&gt; 3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altura()       -&gt; 2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gye.esHoja()  -&gt; false</a:t>
              </a:r>
            </a:p>
            <a:p>
              <a:pPr algn="l">
                <a:lnSpc>
                  <a:spcPts val="3360"/>
                </a:lnSpc>
              </a:pPr>
              <a:r>
                <a:rPr lang="en-US" sz="2100">
                  <a:solidFill>
                    <a:srgbClr val="E3A33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gye.grado()   -&gt; 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790472" y="2765479"/>
            <a:ext cx="6763341" cy="1819046"/>
            <a:chOff x="0" y="0"/>
            <a:chExt cx="9017787" cy="242539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017763" cy="2425446"/>
            </a:xfrm>
            <a:custGeom>
              <a:avLst/>
              <a:gdLst/>
              <a:ahLst/>
              <a:cxnLst/>
              <a:rect r="r" b="b" t="t" l="l"/>
              <a:pathLst>
                <a:path h="2425446" w="9017763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8823706" y="0"/>
                  </a:lnTo>
                  <a:cubicBezTo>
                    <a:pt x="8930894" y="0"/>
                    <a:pt x="9017763" y="86868"/>
                    <a:pt x="9017763" y="194056"/>
                  </a:cubicBezTo>
                  <a:lnTo>
                    <a:pt x="9017763" y="2231390"/>
                  </a:lnTo>
                  <a:cubicBezTo>
                    <a:pt x="9017763" y="2338578"/>
                    <a:pt x="8930894" y="2425446"/>
                    <a:pt x="8823706" y="2425446"/>
                  </a:cubicBezTo>
                  <a:lnTo>
                    <a:pt x="194056" y="2425446"/>
                  </a:lnTo>
                  <a:cubicBezTo>
                    <a:pt x="86868" y="2425446"/>
                    <a:pt x="0" y="2338578"/>
                    <a:pt x="0" y="223139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1070003" y="2775004"/>
            <a:ext cx="899998" cy="1799996"/>
            <a:chOff x="0" y="0"/>
            <a:chExt cx="1199998" cy="23999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000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1200000">
                  <a:moveTo>
                    <a:pt x="0" y="0"/>
                  </a:moveTo>
                  <a:lnTo>
                    <a:pt x="1200000" y="0"/>
                  </a:lnTo>
                  <a:lnTo>
                    <a:pt x="12000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6" t="0" r="-206606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47625"/>
              <a:ext cx="1199998" cy="235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8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075004" y="2775004"/>
            <a:ext cx="5244284" cy="1799996"/>
            <a:chOff x="0" y="0"/>
            <a:chExt cx="6992379" cy="239999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92384" cy="2400000"/>
            </a:xfrm>
            <a:custGeom>
              <a:avLst/>
              <a:gdLst/>
              <a:ahLst/>
              <a:cxnLst/>
              <a:rect r="r" b="b" t="t" l="l"/>
              <a:pathLst>
                <a:path h="2400000" w="6992384">
                  <a:moveTo>
                    <a:pt x="0" y="0"/>
                  </a:moveTo>
                  <a:lnTo>
                    <a:pt x="6992384" y="0"/>
                  </a:lnTo>
                  <a:lnTo>
                    <a:pt x="6992384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9" r="0" b="-676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6992379" cy="2419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crearRaiz y agregar</a:t>
              </a: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construyen el árbol nodo por nodo.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790472" y="4865475"/>
            <a:ext cx="6763341" cy="1819046"/>
            <a:chOff x="0" y="0"/>
            <a:chExt cx="9017787" cy="242539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017763" cy="2425446"/>
            </a:xfrm>
            <a:custGeom>
              <a:avLst/>
              <a:gdLst/>
              <a:ahLst/>
              <a:cxnLst/>
              <a:rect r="r" b="b" t="t" l="l"/>
              <a:pathLst>
                <a:path h="2425446" w="9017763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8823706" y="0"/>
                  </a:lnTo>
                  <a:cubicBezTo>
                    <a:pt x="8930894" y="0"/>
                    <a:pt x="9017763" y="86868"/>
                    <a:pt x="9017763" y="194056"/>
                  </a:cubicBezTo>
                  <a:lnTo>
                    <a:pt x="9017763" y="2231390"/>
                  </a:lnTo>
                  <a:cubicBezTo>
                    <a:pt x="9017763" y="2338578"/>
                    <a:pt x="8930894" y="2425446"/>
                    <a:pt x="8823706" y="2425446"/>
                  </a:cubicBezTo>
                  <a:lnTo>
                    <a:pt x="194056" y="2425446"/>
                  </a:lnTo>
                  <a:cubicBezTo>
                    <a:pt x="86868" y="2425446"/>
                    <a:pt x="0" y="2338578"/>
                    <a:pt x="0" y="223139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1070003" y="4875000"/>
            <a:ext cx="899998" cy="1799996"/>
            <a:chOff x="0" y="0"/>
            <a:chExt cx="1199998" cy="23999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000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1200000">
                  <a:moveTo>
                    <a:pt x="0" y="0"/>
                  </a:moveTo>
                  <a:lnTo>
                    <a:pt x="1200000" y="0"/>
                  </a:lnTo>
                  <a:lnTo>
                    <a:pt x="12000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6" t="0" r="-206606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47625"/>
              <a:ext cx="1199998" cy="235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8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075004" y="4875000"/>
            <a:ext cx="5244284" cy="1799996"/>
            <a:chOff x="0" y="0"/>
            <a:chExt cx="6992379" cy="23999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992384" cy="2400000"/>
            </a:xfrm>
            <a:custGeom>
              <a:avLst/>
              <a:gdLst/>
              <a:ahLst/>
              <a:cxnLst/>
              <a:rect r="r" b="b" t="t" l="l"/>
              <a:pathLst>
                <a:path h="2400000" w="6992384">
                  <a:moveTo>
                    <a:pt x="0" y="0"/>
                  </a:moveTo>
                  <a:lnTo>
                    <a:pt x="6992384" y="0"/>
                  </a:lnTo>
                  <a:lnTo>
                    <a:pt x="6992384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9" r="0" b="-676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6992379" cy="2419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VistaArbol</a:t>
              </a: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lo dibuja en consola después de cada paso.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790472" y="6965471"/>
            <a:ext cx="6763341" cy="1819046"/>
            <a:chOff x="0" y="0"/>
            <a:chExt cx="9017787" cy="242539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017763" cy="2425446"/>
            </a:xfrm>
            <a:custGeom>
              <a:avLst/>
              <a:gdLst/>
              <a:ahLst/>
              <a:cxnLst/>
              <a:rect r="r" b="b" t="t" l="l"/>
              <a:pathLst>
                <a:path h="2425446" w="9017763">
                  <a:moveTo>
                    <a:pt x="0" y="194056"/>
                  </a:moveTo>
                  <a:cubicBezTo>
                    <a:pt x="0" y="86868"/>
                    <a:pt x="86868" y="0"/>
                    <a:pt x="194056" y="0"/>
                  </a:cubicBezTo>
                  <a:lnTo>
                    <a:pt x="8823706" y="0"/>
                  </a:lnTo>
                  <a:cubicBezTo>
                    <a:pt x="8930894" y="0"/>
                    <a:pt x="9017763" y="86868"/>
                    <a:pt x="9017763" y="194056"/>
                  </a:cubicBezTo>
                  <a:lnTo>
                    <a:pt x="9017763" y="2231390"/>
                  </a:lnTo>
                  <a:cubicBezTo>
                    <a:pt x="9017763" y="2338578"/>
                    <a:pt x="8930894" y="2425446"/>
                    <a:pt x="8823706" y="2425446"/>
                  </a:cubicBezTo>
                  <a:lnTo>
                    <a:pt x="194056" y="2425446"/>
                  </a:lnTo>
                  <a:cubicBezTo>
                    <a:pt x="86868" y="2425446"/>
                    <a:pt x="0" y="2338578"/>
                    <a:pt x="0" y="223139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1070003" y="6974996"/>
            <a:ext cx="899998" cy="1799996"/>
            <a:chOff x="0" y="0"/>
            <a:chExt cx="1199998" cy="23999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00000" cy="2400000"/>
            </a:xfrm>
            <a:custGeom>
              <a:avLst/>
              <a:gdLst/>
              <a:ahLst/>
              <a:cxnLst/>
              <a:rect r="r" b="b" t="t" l="l"/>
              <a:pathLst>
                <a:path h="2400000" w="1200000">
                  <a:moveTo>
                    <a:pt x="0" y="0"/>
                  </a:moveTo>
                  <a:lnTo>
                    <a:pt x="1200000" y="0"/>
                  </a:lnTo>
                  <a:lnTo>
                    <a:pt x="1200000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6" t="0" r="-206606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47625"/>
              <a:ext cx="1199998" cy="2352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b="true" sz="48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075004" y="6974996"/>
            <a:ext cx="5244284" cy="1799996"/>
            <a:chOff x="0" y="0"/>
            <a:chExt cx="6992379" cy="23999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992384" cy="2400000"/>
            </a:xfrm>
            <a:custGeom>
              <a:avLst/>
              <a:gdLst/>
              <a:ahLst/>
              <a:cxnLst/>
              <a:rect r="r" b="b" t="t" l="l"/>
              <a:pathLst>
                <a:path h="2400000" w="6992384">
                  <a:moveTo>
                    <a:pt x="0" y="0"/>
                  </a:moveTo>
                  <a:lnTo>
                    <a:pt x="6992384" y="0"/>
                  </a:lnTo>
                  <a:lnTo>
                    <a:pt x="6992384" y="2400000"/>
                  </a:lnTo>
                  <a:lnTo>
                    <a:pt x="0" y="24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9" r="0" b="-676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6992379" cy="2419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22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contarNodos, contarHojas y altura</a:t>
              </a:r>
            </a:p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4A5A54"/>
                  </a:solidFill>
                  <a:latin typeface="DM Sans"/>
                  <a:ea typeface="DM Sans"/>
                  <a:cs typeface="DM Sans"/>
                  <a:sym typeface="DM Sans"/>
                </a:rPr>
                <a:t>lo describen con números.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888878" y="-1151628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RETO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Reto: ¿árbol sano o árbol en cadena?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09675" y="2765479"/>
            <a:ext cx="5160750" cy="3469053"/>
            <a:chOff x="0" y="0"/>
            <a:chExt cx="6881000" cy="462540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8098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880987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6649720" y="0"/>
                  </a:lnTo>
                  <a:cubicBezTo>
                    <a:pt x="6777482" y="0"/>
                    <a:pt x="6880987" y="103505"/>
                    <a:pt x="6880987" y="231267"/>
                  </a:cubicBezTo>
                  <a:lnTo>
                    <a:pt x="6880987" y="4394073"/>
                  </a:lnTo>
                  <a:cubicBezTo>
                    <a:pt x="6880987" y="4521835"/>
                    <a:pt x="6777482" y="4625340"/>
                    <a:pt x="6649720" y="4625340"/>
                  </a:cubicBezTo>
                  <a:lnTo>
                    <a:pt x="231267" y="4625340"/>
                  </a:lnTo>
                  <a:cubicBezTo>
                    <a:pt x="103505" y="4625340"/>
                    <a:pt x="0" y="4521835"/>
                    <a:pt x="0" y="439407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564196" y="2925004"/>
            <a:ext cx="1199998" cy="1124998"/>
            <a:chOff x="0" y="0"/>
            <a:chExt cx="1599997" cy="149999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600000" cy="1500000"/>
            </a:xfrm>
            <a:custGeom>
              <a:avLst/>
              <a:gdLst/>
              <a:ahLst/>
              <a:cxnLst/>
              <a:rect r="r" b="b" t="t" l="l"/>
              <a:pathLst>
                <a:path h="1500000" w="1600000">
                  <a:moveTo>
                    <a:pt x="0" y="0"/>
                  </a:moveTo>
                  <a:lnTo>
                    <a:pt x="1600000" y="0"/>
                  </a:lnTo>
                  <a:lnTo>
                    <a:pt x="1600000" y="1500000"/>
                  </a:lnTo>
                  <a:lnTo>
                    <a:pt x="0" y="15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66675"/>
              <a:ext cx="1599997" cy="1433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b="true" sz="66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719197" y="3000004"/>
            <a:ext cx="3341694" cy="974998"/>
            <a:chOff x="0" y="0"/>
            <a:chExt cx="4455592" cy="129999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55594" cy="1300000"/>
            </a:xfrm>
            <a:custGeom>
              <a:avLst/>
              <a:gdLst/>
              <a:ahLst/>
              <a:cxnLst/>
              <a:rect r="r" b="b" t="t" l="l"/>
              <a:pathLst>
                <a:path h="1300000" w="4455594">
                  <a:moveTo>
                    <a:pt x="0" y="0"/>
                  </a:moveTo>
                  <a:lnTo>
                    <a:pt x="4455594" y="0"/>
                  </a:lnTo>
                  <a:lnTo>
                    <a:pt x="4455594" y="1300000"/>
                  </a:lnTo>
                  <a:lnTo>
                    <a:pt x="0" y="13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2" r="0" b="-167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455592" cy="12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Construir</a:t>
              </a:r>
            </a:p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 min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564195" y="4227376"/>
            <a:ext cx="4451699" cy="21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Armen el árbol A con crearRaiz, agregarIzquierdo y agregarDerecho.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801374" y="2765479"/>
            <a:ext cx="5160750" cy="3469053"/>
            <a:chOff x="0" y="0"/>
            <a:chExt cx="6881000" cy="46254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8098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880987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6649720" y="0"/>
                  </a:lnTo>
                  <a:cubicBezTo>
                    <a:pt x="6777482" y="0"/>
                    <a:pt x="6880987" y="103505"/>
                    <a:pt x="6880987" y="231267"/>
                  </a:cubicBezTo>
                  <a:lnTo>
                    <a:pt x="6880987" y="4394073"/>
                  </a:lnTo>
                  <a:cubicBezTo>
                    <a:pt x="6880987" y="4521835"/>
                    <a:pt x="6777482" y="4625340"/>
                    <a:pt x="6649720" y="4625340"/>
                  </a:cubicBezTo>
                  <a:lnTo>
                    <a:pt x="231267" y="4625340"/>
                  </a:lnTo>
                  <a:cubicBezTo>
                    <a:pt x="103505" y="4625340"/>
                    <a:pt x="0" y="4521835"/>
                    <a:pt x="0" y="439407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155894" y="2925004"/>
            <a:ext cx="1199998" cy="1124998"/>
            <a:chOff x="0" y="0"/>
            <a:chExt cx="1599997" cy="149999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600000" cy="1500000"/>
            </a:xfrm>
            <a:custGeom>
              <a:avLst/>
              <a:gdLst/>
              <a:ahLst/>
              <a:cxnLst/>
              <a:rect r="r" b="b" t="t" l="l"/>
              <a:pathLst>
                <a:path h="1500000" w="1600000">
                  <a:moveTo>
                    <a:pt x="0" y="0"/>
                  </a:moveTo>
                  <a:lnTo>
                    <a:pt x="1600000" y="0"/>
                  </a:lnTo>
                  <a:lnTo>
                    <a:pt x="1600000" y="1500000"/>
                  </a:lnTo>
                  <a:lnTo>
                    <a:pt x="0" y="15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66675"/>
              <a:ext cx="1599997" cy="1433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b="true" sz="66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310896" y="3000004"/>
            <a:ext cx="3341694" cy="974998"/>
            <a:chOff x="0" y="0"/>
            <a:chExt cx="4455592" cy="129999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55594" cy="1300000"/>
            </a:xfrm>
            <a:custGeom>
              <a:avLst/>
              <a:gdLst/>
              <a:ahLst/>
              <a:cxnLst/>
              <a:rect r="r" b="b" t="t" l="l"/>
              <a:pathLst>
                <a:path h="1300000" w="4455594">
                  <a:moveTo>
                    <a:pt x="0" y="0"/>
                  </a:moveTo>
                  <a:lnTo>
                    <a:pt x="4455594" y="0"/>
                  </a:lnTo>
                  <a:lnTo>
                    <a:pt x="4455594" y="1300000"/>
                  </a:lnTo>
                  <a:lnTo>
                    <a:pt x="0" y="13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2" r="0" b="-1678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4455592" cy="12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Consultar</a:t>
              </a:r>
            </a:p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 min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7155894" y="4227376"/>
            <a:ext cx="4451699" cy="21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Impriman la raíz, los nodos, las hojas, la altura y el grado de LTX y SNC.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2393063" y="2765479"/>
            <a:ext cx="5160750" cy="3469053"/>
            <a:chOff x="0" y="0"/>
            <a:chExt cx="6881000" cy="462540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80987" cy="4625340"/>
            </a:xfrm>
            <a:custGeom>
              <a:avLst/>
              <a:gdLst/>
              <a:ahLst/>
              <a:cxnLst/>
              <a:rect r="r" b="b" t="t" l="l"/>
              <a:pathLst>
                <a:path h="4625340" w="6880987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6649720" y="0"/>
                  </a:lnTo>
                  <a:cubicBezTo>
                    <a:pt x="6777482" y="0"/>
                    <a:pt x="6880987" y="103505"/>
                    <a:pt x="6880987" y="231267"/>
                  </a:cubicBezTo>
                  <a:lnTo>
                    <a:pt x="6880987" y="4394073"/>
                  </a:lnTo>
                  <a:cubicBezTo>
                    <a:pt x="6880987" y="4521835"/>
                    <a:pt x="6777482" y="4625340"/>
                    <a:pt x="6649720" y="4625340"/>
                  </a:cubicBezTo>
                  <a:lnTo>
                    <a:pt x="231267" y="4625340"/>
                  </a:lnTo>
                  <a:cubicBezTo>
                    <a:pt x="103505" y="4625340"/>
                    <a:pt x="0" y="4521835"/>
                    <a:pt x="0" y="439407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747593" y="2925004"/>
            <a:ext cx="1199998" cy="1124998"/>
            <a:chOff x="0" y="0"/>
            <a:chExt cx="1599997" cy="149999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600000" cy="1500000"/>
            </a:xfrm>
            <a:custGeom>
              <a:avLst/>
              <a:gdLst/>
              <a:ahLst/>
              <a:cxnLst/>
              <a:rect r="r" b="b" t="t" l="l"/>
              <a:pathLst>
                <a:path h="1500000" w="1600000">
                  <a:moveTo>
                    <a:pt x="0" y="0"/>
                  </a:moveTo>
                  <a:lnTo>
                    <a:pt x="1600000" y="0"/>
                  </a:lnTo>
                  <a:lnTo>
                    <a:pt x="1600000" y="1500000"/>
                  </a:lnTo>
                  <a:lnTo>
                    <a:pt x="0" y="15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66675"/>
              <a:ext cx="1599997" cy="1433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b="true" sz="6600">
                  <a:solidFill>
                    <a:srgbClr val="88A5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902595" y="3000004"/>
            <a:ext cx="3341694" cy="974998"/>
            <a:chOff x="0" y="0"/>
            <a:chExt cx="4455592" cy="129999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455594" cy="1300000"/>
            </a:xfrm>
            <a:custGeom>
              <a:avLst/>
              <a:gdLst/>
              <a:ahLst/>
              <a:cxnLst/>
              <a:rect r="r" b="b" t="t" l="l"/>
              <a:pathLst>
                <a:path h="1300000" w="4455594">
                  <a:moveTo>
                    <a:pt x="0" y="0"/>
                  </a:moveTo>
                  <a:lnTo>
                    <a:pt x="4455594" y="0"/>
                  </a:lnTo>
                  <a:lnTo>
                    <a:pt x="4455594" y="1300000"/>
                  </a:lnTo>
                  <a:lnTo>
                    <a:pt x="0" y="13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82" r="0" b="-1678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4455592" cy="12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Decidir</a:t>
              </a:r>
            </a:p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 min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2747593" y="4227376"/>
            <a:ext cx="4451699" cy="21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Armen el árbol B y escriban esCadena(arbol): altura igual a nodos menos 1.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219200" y="6674996"/>
            <a:ext cx="16325088" cy="2249996"/>
            <a:chOff x="0" y="0"/>
            <a:chExt cx="21766784" cy="299999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766785" cy="2999994"/>
            </a:xfrm>
            <a:custGeom>
              <a:avLst/>
              <a:gdLst/>
              <a:ahLst/>
              <a:cxnLst/>
              <a:rect r="r" b="b" t="t" l="l"/>
              <a:pathLst>
                <a:path h="2999994" w="21766785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21616798" y="0"/>
                  </a:lnTo>
                  <a:cubicBezTo>
                    <a:pt x="21699601" y="0"/>
                    <a:pt x="21766785" y="67183"/>
                    <a:pt x="21766785" y="149987"/>
                  </a:cubicBezTo>
                  <a:lnTo>
                    <a:pt x="21766785" y="2850007"/>
                  </a:lnTo>
                  <a:cubicBezTo>
                    <a:pt x="21766785" y="2932811"/>
                    <a:pt x="21699601" y="2999994"/>
                    <a:pt x="21616798" y="2999994"/>
                  </a:cubicBezTo>
                  <a:lnTo>
                    <a:pt x="149987" y="2999994"/>
                  </a:lnTo>
                  <a:cubicBezTo>
                    <a:pt x="67183" y="2999994"/>
                    <a:pt x="0" y="2932811"/>
                    <a:pt x="0" y="2850007"/>
                  </a:cubicBezTo>
                  <a:close/>
                </a:path>
              </a:pathLst>
            </a:custGeom>
            <a:solidFill>
              <a:srgbClr val="12261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21766784" cy="302856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729"/>
                </a:lnSpc>
              </a:pPr>
              <a:r>
                <a:rPr lang="en-US" b="true" sz="1950" spc="150">
                  <a:solidFill>
                    <a:srgbClr val="E3A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REGLAS</a:t>
              </a:r>
            </a:p>
            <a:p>
              <a:pPr algn="l">
                <a:lnSpc>
                  <a:spcPts val="3149"/>
                </a:lnSpc>
              </a:pPr>
              <a:r>
                <a:rPr lang="en-US" sz="2250" spc="173">
                  <a:solidFill>
                    <a:srgbClr val="F6F4EC"/>
                  </a:solidFill>
                  <a:latin typeface="DM Sans"/>
                  <a:ea typeface="DM Sans"/>
                  <a:cs typeface="DM Sans"/>
                  <a:sym typeface="DM Sans"/>
                </a:rPr>
                <a:t>Solo se usan Nodo y ArbolBinario.</a:t>
              </a:r>
            </a:p>
            <a:p>
              <a:pPr algn="l">
                <a:lnSpc>
                  <a:spcPts val="3149"/>
                </a:lnSpc>
              </a:pPr>
              <a:r>
                <a:rPr lang="en-US" sz="2250" spc="173">
                  <a:solidFill>
                    <a:srgbClr val="F6F4EC"/>
                  </a:solidFill>
                  <a:latin typeface="DM Sans"/>
                  <a:ea typeface="DM Sans"/>
                  <a:cs typeface="DM Sans"/>
                  <a:sym typeface="DM Sans"/>
                </a:rPr>
                <a:t>Prohibido: TreeSet, TreeMap, PriorityQueue, NavigableSet y NavigableMap.</a:t>
              </a:r>
            </a:p>
            <a:p>
              <a:pPr algn="l">
                <a:lnSpc>
                  <a:spcPts val="3149"/>
                </a:lnSpc>
              </a:pPr>
              <a:r>
                <a:rPr lang="en-US" sz="2250" spc="173">
                  <a:solidFill>
                    <a:srgbClr val="F6F4EC"/>
                  </a:solidFill>
                  <a:latin typeface="DM Sans"/>
                  <a:ea typeface="DM Sans"/>
                  <a:cs typeface="DM Sans"/>
                  <a:sym typeface="DM Sans"/>
                </a:rPr>
                <a:t>Casos límite: árbol vacío, un solo nodo y agregar donde ya hay un hijo.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458862" y="-991370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RETO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Los árboles del reto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09675" y="2690479"/>
            <a:ext cx="9469050" cy="6319047"/>
            <a:chOff x="0" y="0"/>
            <a:chExt cx="12625400" cy="84253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625450" cy="8425434"/>
            </a:xfrm>
            <a:custGeom>
              <a:avLst/>
              <a:gdLst/>
              <a:ahLst/>
              <a:cxnLst/>
              <a:rect r="r" b="b" t="t" l="l"/>
              <a:pathLst>
                <a:path h="8425434" w="12625450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12330557" y="0"/>
                  </a:lnTo>
                  <a:cubicBezTo>
                    <a:pt x="12493371" y="0"/>
                    <a:pt x="12625450" y="132080"/>
                    <a:pt x="12625450" y="294894"/>
                  </a:cubicBezTo>
                  <a:lnTo>
                    <a:pt x="12625450" y="8130540"/>
                  </a:lnTo>
                  <a:cubicBezTo>
                    <a:pt x="12625450" y="8293354"/>
                    <a:pt x="12493371" y="8425434"/>
                    <a:pt x="12330557" y="8425434"/>
                  </a:cubicBezTo>
                  <a:lnTo>
                    <a:pt x="294894" y="8425434"/>
                  </a:lnTo>
                  <a:cubicBezTo>
                    <a:pt x="132080" y="8425434"/>
                    <a:pt x="0" y="8293354"/>
                    <a:pt x="0" y="813054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219200" y="2840479"/>
            <a:ext cx="9450000" cy="45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Árbol A: 8 nodos</a:t>
            </a:r>
          </a:p>
        </p:txBody>
      </p:sp>
      <p:sp>
        <p:nvSpPr>
          <p:cNvPr name="AutoShape 77" id="77"/>
          <p:cNvSpPr/>
          <p:nvPr/>
        </p:nvSpPr>
        <p:spPr>
          <a:xfrm rot="8824260">
            <a:off x="3626196" y="4790475"/>
            <a:ext cx="2536003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1975740">
            <a:off x="5726201" y="4790475"/>
            <a:ext cx="2536003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7795320">
            <a:off x="2382926" y="6140472"/>
            <a:ext cx="1797558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3004680">
            <a:off x="3507924" y="6140472"/>
            <a:ext cx="1797558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7682339">
            <a:off x="6644011" y="6140472"/>
            <a:ext cx="175037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117660">
            <a:off x="7694019" y="6140472"/>
            <a:ext cx="175037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7682339">
            <a:off x="5594013" y="7490479"/>
            <a:ext cx="1750371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5494915" y="3675717"/>
            <a:ext cx="898579" cy="898579"/>
            <a:chOff x="0" y="0"/>
            <a:chExt cx="1198105" cy="119810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17415F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LTX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394910" y="5025714"/>
            <a:ext cx="898579" cy="898579"/>
            <a:chOff x="0" y="0"/>
            <a:chExt cx="1198105" cy="119810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ATF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594911" y="5025714"/>
            <a:ext cx="898579" cy="898579"/>
            <a:chOff x="0" y="0"/>
            <a:chExt cx="1198105" cy="119810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MCH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269912" y="6375711"/>
            <a:ext cx="898579" cy="898579"/>
            <a:chOff x="0" y="0"/>
            <a:chExt cx="1198105" cy="119810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TUA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519908" y="6375711"/>
            <a:ext cx="898579" cy="898579"/>
            <a:chOff x="0" y="0"/>
            <a:chExt cx="1198105" cy="119810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IBB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544913" y="6375711"/>
            <a:ext cx="898579" cy="898579"/>
            <a:chOff x="0" y="0"/>
            <a:chExt cx="1198105" cy="119810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SNC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644909" y="6375711"/>
            <a:ext cx="898579" cy="898579"/>
            <a:chOff x="0" y="0"/>
            <a:chExt cx="1198105" cy="119810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OCC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494915" y="7725708"/>
            <a:ext cx="898579" cy="898579"/>
            <a:chOff x="0" y="0"/>
            <a:chExt cx="1198105" cy="119810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LGQ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109674" y="2690479"/>
            <a:ext cx="6444139" cy="6319047"/>
            <a:chOff x="0" y="0"/>
            <a:chExt cx="8592185" cy="84253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592185" cy="8425434"/>
            </a:xfrm>
            <a:custGeom>
              <a:avLst/>
              <a:gdLst/>
              <a:ahLst/>
              <a:cxnLst/>
              <a:rect r="r" b="b" t="t" l="l"/>
              <a:pathLst>
                <a:path h="8425434" w="8592185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8297291" y="0"/>
                  </a:lnTo>
                  <a:cubicBezTo>
                    <a:pt x="8460105" y="0"/>
                    <a:pt x="8592185" y="132080"/>
                    <a:pt x="8592185" y="294894"/>
                  </a:cubicBezTo>
                  <a:lnTo>
                    <a:pt x="8592185" y="8130540"/>
                  </a:lnTo>
                  <a:cubicBezTo>
                    <a:pt x="8592185" y="8293354"/>
                    <a:pt x="8460105" y="8425434"/>
                    <a:pt x="8297291" y="8425434"/>
                  </a:cubicBezTo>
                  <a:lnTo>
                    <a:pt x="294894" y="8425434"/>
                  </a:lnTo>
                  <a:cubicBezTo>
                    <a:pt x="132080" y="8425434"/>
                    <a:pt x="0" y="8293354"/>
                    <a:pt x="0" y="813054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sp>
        <p:nvSpPr>
          <p:cNvPr name="TextBox 110" id="110"/>
          <p:cNvSpPr txBox="true"/>
          <p:nvPr/>
        </p:nvSpPr>
        <p:spPr>
          <a:xfrm rot="0">
            <a:off x="11119199" y="2840479"/>
            <a:ext cx="6425089" cy="45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Árbol B: 5 nodos</a:t>
            </a:r>
          </a:p>
        </p:txBody>
      </p:sp>
      <p:sp>
        <p:nvSpPr>
          <p:cNvPr name="AutoShape 111" id="111"/>
          <p:cNvSpPr/>
          <p:nvPr/>
        </p:nvSpPr>
        <p:spPr>
          <a:xfrm rot="3098520">
            <a:off x="12643961" y="4490476"/>
            <a:ext cx="137546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rot="3098520">
            <a:off x="13468969" y="5540473"/>
            <a:ext cx="137546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rot="3098520">
            <a:off x="14293967" y="6590471"/>
            <a:ext cx="137546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 rot="3098519">
            <a:off x="15118966" y="7640479"/>
            <a:ext cx="1375467" cy="0"/>
          </a:xfrm>
          <a:prstGeom prst="line">
            <a:avLst/>
          </a:prstGeom>
          <a:ln cap="rnd" w="19050">
            <a:solidFill>
              <a:srgbClr val="1F7A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12469911" y="3525717"/>
            <a:ext cx="898579" cy="898579"/>
            <a:chOff x="0" y="0"/>
            <a:chExt cx="1198105" cy="119810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17415F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GPS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294909" y="4575715"/>
            <a:ext cx="898579" cy="898579"/>
            <a:chOff x="0" y="0"/>
            <a:chExt cx="1198105" cy="119810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119917" y="5625713"/>
            <a:ext cx="898579" cy="898579"/>
            <a:chOff x="0" y="0"/>
            <a:chExt cx="1198105" cy="119810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MRR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944915" y="6675711"/>
            <a:ext cx="898579" cy="898579"/>
            <a:chOff x="0" y="0"/>
            <a:chExt cx="1198105" cy="119810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PTZ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5769914" y="7725708"/>
            <a:ext cx="898579" cy="898579"/>
            <a:chOff x="0" y="0"/>
            <a:chExt cx="1198105" cy="119810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98118" cy="1198118"/>
            </a:xfrm>
            <a:custGeom>
              <a:avLst/>
              <a:gdLst/>
              <a:ahLst/>
              <a:cxnLst/>
              <a:rect r="r" b="b" t="t" l="l"/>
              <a:pathLst>
                <a:path h="1198118" w="1198118">
                  <a:moveTo>
                    <a:pt x="0" y="599059"/>
                  </a:moveTo>
                  <a:cubicBezTo>
                    <a:pt x="0" y="268224"/>
                    <a:pt x="268224" y="0"/>
                    <a:pt x="599059" y="0"/>
                  </a:cubicBezTo>
                  <a:cubicBezTo>
                    <a:pt x="929894" y="0"/>
                    <a:pt x="1198118" y="268224"/>
                    <a:pt x="1198118" y="599059"/>
                  </a:cubicBezTo>
                  <a:cubicBezTo>
                    <a:pt x="1198118" y="929894"/>
                    <a:pt x="929894" y="1198118"/>
                    <a:pt x="599059" y="1198118"/>
                  </a:cubicBezTo>
                  <a:cubicBezTo>
                    <a:pt x="268224" y="1198118"/>
                    <a:pt x="0" y="929894"/>
                    <a:pt x="0" y="599059"/>
                  </a:cubicBezTo>
                  <a:close/>
                </a:path>
              </a:pathLst>
            </a:custGeom>
            <a:solidFill>
              <a:srgbClr val="FFFDF7"/>
            </a:solidFill>
            <a:ln w="28575" cap="sq">
              <a:solidFill>
                <a:srgbClr val="17415F"/>
              </a:solidFill>
              <a:prstDash val="solid"/>
              <a:miter/>
            </a:ln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1198105" cy="1198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TPN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511501" y="-1101125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EN NUESTRO PROYECTO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9200" y="1727749"/>
            <a:ext cx="16325088" cy="66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El árbol en nuestro proyecto final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09675" y="2840479"/>
            <a:ext cx="7969053" cy="3139049"/>
            <a:chOff x="0" y="0"/>
            <a:chExt cx="10625404" cy="41853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25327" cy="4185412"/>
            </a:xfrm>
            <a:custGeom>
              <a:avLst/>
              <a:gdLst/>
              <a:ahLst/>
              <a:cxnLst/>
              <a:rect r="r" b="b" t="t" l="l"/>
              <a:pathLst>
                <a:path h="4185412" w="10625327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lnTo>
                    <a:pt x="10374249" y="0"/>
                  </a:lnTo>
                  <a:cubicBezTo>
                    <a:pt x="10512933" y="0"/>
                    <a:pt x="10625327" y="112395"/>
                    <a:pt x="10625327" y="251079"/>
                  </a:cubicBezTo>
                  <a:lnTo>
                    <a:pt x="10625327" y="3934333"/>
                  </a:lnTo>
                  <a:cubicBezTo>
                    <a:pt x="10625327" y="4073017"/>
                    <a:pt x="10512933" y="4185412"/>
                    <a:pt x="10374249" y="4185412"/>
                  </a:cubicBezTo>
                  <a:lnTo>
                    <a:pt x="251079" y="4185412"/>
                  </a:lnTo>
                  <a:cubicBezTo>
                    <a:pt x="112395" y="4185412"/>
                    <a:pt x="0" y="4073017"/>
                    <a:pt x="0" y="393433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594199" y="3046428"/>
            <a:ext cx="7200005" cy="41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HOY · HITO 1: LISTA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594199" y="3494999"/>
            <a:ext cx="7200005" cy="1199998"/>
            <a:chOff x="0" y="0"/>
            <a:chExt cx="9600006" cy="159999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00000" cy="1600000"/>
            </a:xfrm>
            <a:custGeom>
              <a:avLst/>
              <a:gdLst/>
              <a:ahLst/>
              <a:cxnLst/>
              <a:rect r="r" b="b" t="t" l="l"/>
              <a:pathLst>
                <a:path h="1600000" w="9600000">
                  <a:moveTo>
                    <a:pt x="0" y="0"/>
                  </a:moveTo>
                  <a:lnTo>
                    <a:pt x="9600000" y="0"/>
                  </a:lnTo>
                  <a:lnTo>
                    <a:pt x="9600000" y="1600000"/>
                  </a:lnTo>
                  <a:lnTo>
                    <a:pt x="0" y="160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66675"/>
              <a:ext cx="9600006" cy="1533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b="true" sz="66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7.698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594199" y="4722371"/>
            <a:ext cx="7200005" cy="88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comparaciones para buscar el aeropuerto UKDM en la lista, porque está al final.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584760" y="2840479"/>
            <a:ext cx="7969053" cy="3139049"/>
            <a:chOff x="0" y="0"/>
            <a:chExt cx="10625404" cy="418539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25327" cy="4185412"/>
            </a:xfrm>
            <a:custGeom>
              <a:avLst/>
              <a:gdLst/>
              <a:ahLst/>
              <a:cxnLst/>
              <a:rect r="r" b="b" t="t" l="l"/>
              <a:pathLst>
                <a:path h="4185412" w="10625327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lnTo>
                    <a:pt x="10374249" y="0"/>
                  </a:lnTo>
                  <a:cubicBezTo>
                    <a:pt x="10512933" y="0"/>
                    <a:pt x="10625327" y="112395"/>
                    <a:pt x="10625327" y="251079"/>
                  </a:cubicBezTo>
                  <a:lnTo>
                    <a:pt x="10625327" y="3934333"/>
                  </a:lnTo>
                  <a:cubicBezTo>
                    <a:pt x="10625327" y="4073017"/>
                    <a:pt x="10512933" y="4185412"/>
                    <a:pt x="10374249" y="4185412"/>
                  </a:cubicBezTo>
                  <a:lnTo>
                    <a:pt x="251079" y="4185412"/>
                  </a:lnTo>
                  <a:cubicBezTo>
                    <a:pt x="112395" y="4185412"/>
                    <a:pt x="0" y="4073017"/>
                    <a:pt x="0" y="3934333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17415F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9969284" y="3046428"/>
            <a:ext cx="7200005" cy="41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13 DE NOVIEMBRE · HITO 4A: ÁRBOL BST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969284" y="3494999"/>
            <a:ext cx="7200005" cy="1251356"/>
            <a:chOff x="0" y="0"/>
            <a:chExt cx="9600006" cy="166847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600000" cy="1668478"/>
            </a:xfrm>
            <a:custGeom>
              <a:avLst/>
              <a:gdLst/>
              <a:ahLst/>
              <a:cxnLst/>
              <a:rect r="r" b="b" t="t" l="l"/>
              <a:pathLst>
                <a:path h="1668478" w="9600000">
                  <a:moveTo>
                    <a:pt x="0" y="0"/>
                  </a:moveTo>
                  <a:lnTo>
                    <a:pt x="9600000" y="0"/>
                  </a:lnTo>
                  <a:lnTo>
                    <a:pt x="9600000" y="1668478"/>
                  </a:lnTo>
                  <a:lnTo>
                    <a:pt x="0" y="16684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64" r="0" b="-6005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66675"/>
              <a:ext cx="9600006" cy="1601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b="true" sz="6600">
                  <a:solidFill>
                    <a:srgbClr val="17415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≈ 13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9969284" y="4722371"/>
            <a:ext cx="7200005" cy="88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comparaciones como máximo con un árbol equilibrado, usando el ID como clave.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19200" y="6327372"/>
            <a:ext cx="7950003" cy="49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Nodo de la lista: un enlace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209675" y="6890471"/>
            <a:ext cx="1969046" cy="919048"/>
            <a:chOff x="0" y="0"/>
            <a:chExt cx="2625395" cy="122539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25344" cy="1225423"/>
            </a:xfrm>
            <a:custGeom>
              <a:avLst/>
              <a:gdLst/>
              <a:ahLst/>
              <a:cxnLst/>
              <a:rect r="r" b="b" t="t" l="l"/>
              <a:pathLst>
                <a:path h="1225423" w="2625344">
                  <a:moveTo>
                    <a:pt x="0" y="0"/>
                  </a:moveTo>
                  <a:lnTo>
                    <a:pt x="2625344" y="0"/>
                  </a:lnTo>
                  <a:lnTo>
                    <a:pt x="2625344" y="1225423"/>
                  </a:lnTo>
                  <a:lnTo>
                    <a:pt x="0" y="1225423"/>
                  </a:lnTo>
                  <a:close/>
                </a:path>
              </a:pathLst>
            </a:custGeom>
            <a:solidFill>
              <a:srgbClr val="88A5C4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625395" cy="12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159671" y="6890471"/>
            <a:ext cx="1969046" cy="919048"/>
            <a:chOff x="0" y="0"/>
            <a:chExt cx="2625395" cy="122539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25344" cy="1225423"/>
            </a:xfrm>
            <a:custGeom>
              <a:avLst/>
              <a:gdLst/>
              <a:ahLst/>
              <a:cxnLst/>
              <a:rect r="r" b="b" t="t" l="l"/>
              <a:pathLst>
                <a:path h="1225423" w="2625344">
                  <a:moveTo>
                    <a:pt x="0" y="0"/>
                  </a:moveTo>
                  <a:lnTo>
                    <a:pt x="2625344" y="0"/>
                  </a:lnTo>
                  <a:lnTo>
                    <a:pt x="2625344" y="1225423"/>
                  </a:lnTo>
                  <a:lnTo>
                    <a:pt x="0" y="1225423"/>
                  </a:ln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625395" cy="12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siguiente</a:t>
              </a: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9594285" y="6327372"/>
            <a:ext cx="7950003" cy="49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2261F"/>
                </a:solidFill>
                <a:latin typeface="DM Sans Bold"/>
                <a:ea typeface="DM Sans Bold"/>
                <a:cs typeface="DM Sans Bold"/>
                <a:sym typeface="DM Sans Bold"/>
              </a:rPr>
              <a:t>Nodo del árbol: dos enlaces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584760" y="6890471"/>
            <a:ext cx="1969046" cy="919048"/>
            <a:chOff x="0" y="0"/>
            <a:chExt cx="2625395" cy="122539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625344" cy="1225423"/>
            </a:xfrm>
            <a:custGeom>
              <a:avLst/>
              <a:gdLst/>
              <a:ahLst/>
              <a:cxnLst/>
              <a:rect r="r" b="b" t="t" l="l"/>
              <a:pathLst>
                <a:path h="1225423" w="2625344">
                  <a:moveTo>
                    <a:pt x="0" y="0"/>
                  </a:moveTo>
                  <a:lnTo>
                    <a:pt x="2625344" y="0"/>
                  </a:lnTo>
                  <a:lnTo>
                    <a:pt x="2625344" y="1225423"/>
                  </a:lnTo>
                  <a:lnTo>
                    <a:pt x="0" y="1225423"/>
                  </a:lnTo>
                  <a:close/>
                </a:path>
              </a:pathLst>
            </a:custGeom>
            <a:solidFill>
              <a:srgbClr val="88A5C4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625395" cy="12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dato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534765" y="6890471"/>
            <a:ext cx="1969046" cy="919048"/>
            <a:chOff x="0" y="0"/>
            <a:chExt cx="2625395" cy="122539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25344" cy="1225423"/>
            </a:xfrm>
            <a:custGeom>
              <a:avLst/>
              <a:gdLst/>
              <a:ahLst/>
              <a:cxnLst/>
              <a:rect r="r" b="b" t="t" l="l"/>
              <a:pathLst>
                <a:path h="1225423" w="2625344">
                  <a:moveTo>
                    <a:pt x="0" y="0"/>
                  </a:moveTo>
                  <a:lnTo>
                    <a:pt x="2625344" y="0"/>
                  </a:lnTo>
                  <a:lnTo>
                    <a:pt x="2625344" y="1225423"/>
                  </a:lnTo>
                  <a:lnTo>
                    <a:pt x="0" y="1225423"/>
                  </a:ln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2625395" cy="12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izquierdo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484762" y="6890471"/>
            <a:ext cx="1969046" cy="919048"/>
            <a:chOff x="0" y="0"/>
            <a:chExt cx="2625395" cy="122539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625344" cy="1225423"/>
            </a:xfrm>
            <a:custGeom>
              <a:avLst/>
              <a:gdLst/>
              <a:ahLst/>
              <a:cxnLst/>
              <a:rect r="r" b="b" t="t" l="l"/>
              <a:pathLst>
                <a:path h="1225423" w="2625344">
                  <a:moveTo>
                    <a:pt x="0" y="0"/>
                  </a:moveTo>
                  <a:lnTo>
                    <a:pt x="2625344" y="0"/>
                  </a:lnTo>
                  <a:lnTo>
                    <a:pt x="2625344" y="1225423"/>
                  </a:lnTo>
                  <a:lnTo>
                    <a:pt x="0" y="1225423"/>
                  </a:ln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88A5C4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2625395" cy="12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226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derecho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219200" y="8202378"/>
            <a:ext cx="16325088" cy="94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A5A54"/>
                </a:solidFill>
                <a:latin typeface="DM Sans"/>
                <a:ea typeface="DM Sans"/>
                <a:cs typeface="DM Sans"/>
                <a:sym typeface="DM Sans"/>
              </a:rPr>
              <a:t>Es la misma idea que ya programamos: un nodo guarda un dato y enlaces. El árbol usa dos enlaces en vez de uno.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692476" y="-1114432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1219200" y="1190625"/>
            <a:ext cx="16325088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CIERRE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34145" y="1764946"/>
            <a:ext cx="2741414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Resumen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19200" y="3048000"/>
            <a:ext cx="5079949" cy="2918222"/>
            <a:chOff x="0" y="0"/>
            <a:chExt cx="6773266" cy="389096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73291" cy="3891026"/>
            </a:xfrm>
            <a:custGeom>
              <a:avLst/>
              <a:gdLst/>
              <a:ahLst/>
              <a:cxnLst/>
              <a:rect r="r" b="b" t="t" l="l"/>
              <a:pathLst>
                <a:path h="3891026" w="6773291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479286" y="0"/>
                  </a:lnTo>
                  <a:cubicBezTo>
                    <a:pt x="6641719" y="0"/>
                    <a:pt x="6773291" y="131572"/>
                    <a:pt x="6773291" y="294005"/>
                  </a:cubicBezTo>
                  <a:lnTo>
                    <a:pt x="6773291" y="3597021"/>
                  </a:lnTo>
                  <a:cubicBezTo>
                    <a:pt x="6773291" y="3759454"/>
                    <a:pt x="6641719" y="3891026"/>
                    <a:pt x="6479286" y="3891026"/>
                  </a:cubicBezTo>
                  <a:lnTo>
                    <a:pt x="294005" y="3891026"/>
                  </a:lnTo>
                  <a:cubicBezTo>
                    <a:pt x="131572" y="3890899"/>
                    <a:pt x="0" y="3759327"/>
                    <a:pt x="0" y="359702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2D5546"/>
              </a:solidFill>
              <a:prstDash val="solid"/>
              <a:miter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1619250" y="3581400"/>
            <a:ext cx="440824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>
                <a:solidFill>
                  <a:srgbClr val="88A5C4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19250" y="4505325"/>
            <a:ext cx="4408246" cy="109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6F4EC"/>
                </a:solidFill>
                <a:latin typeface="DM Sans"/>
                <a:ea typeface="DM Sans"/>
                <a:cs typeface="DM Sans"/>
                <a:sym typeface="DM Sans"/>
              </a:rPr>
              <a:t>Un árbol organiza datos con jerarquía.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603949" y="3048000"/>
            <a:ext cx="5080102" cy="2918222"/>
            <a:chOff x="0" y="0"/>
            <a:chExt cx="6773469" cy="389096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773418" cy="3891026"/>
            </a:xfrm>
            <a:custGeom>
              <a:avLst/>
              <a:gdLst/>
              <a:ahLst/>
              <a:cxnLst/>
              <a:rect r="r" b="b" t="t" l="l"/>
              <a:pathLst>
                <a:path h="3891026" w="6773418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479413" y="0"/>
                  </a:lnTo>
                  <a:cubicBezTo>
                    <a:pt x="6641846" y="0"/>
                    <a:pt x="6773418" y="131572"/>
                    <a:pt x="6773418" y="294005"/>
                  </a:cubicBezTo>
                  <a:lnTo>
                    <a:pt x="6773418" y="3597021"/>
                  </a:lnTo>
                  <a:cubicBezTo>
                    <a:pt x="6773418" y="3759454"/>
                    <a:pt x="6641846" y="3891026"/>
                    <a:pt x="6479413" y="3891026"/>
                  </a:cubicBezTo>
                  <a:lnTo>
                    <a:pt x="294005" y="3891026"/>
                  </a:lnTo>
                  <a:cubicBezTo>
                    <a:pt x="131572" y="3890899"/>
                    <a:pt x="0" y="3759327"/>
                    <a:pt x="0" y="359702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2D5546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7003999" y="3581400"/>
            <a:ext cx="440839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>
                <a:solidFill>
                  <a:srgbClr val="88A5C4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003999" y="4505325"/>
            <a:ext cx="4408399" cy="109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6F4EC"/>
                </a:solidFill>
                <a:latin typeface="DM Sans"/>
                <a:ea typeface="DM Sans"/>
                <a:cs typeface="DM Sans"/>
                <a:sym typeface="DM Sans"/>
              </a:rPr>
              <a:t>La raíz no tiene padre y las hojas no tienen hijos.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1988851" y="3048000"/>
            <a:ext cx="5079949" cy="2918222"/>
            <a:chOff x="0" y="0"/>
            <a:chExt cx="6773266" cy="389096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773291" cy="3891026"/>
            </a:xfrm>
            <a:custGeom>
              <a:avLst/>
              <a:gdLst/>
              <a:ahLst/>
              <a:cxnLst/>
              <a:rect r="r" b="b" t="t" l="l"/>
              <a:pathLst>
                <a:path h="3891026" w="6773291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479286" y="0"/>
                  </a:lnTo>
                  <a:cubicBezTo>
                    <a:pt x="6641719" y="0"/>
                    <a:pt x="6773291" y="131572"/>
                    <a:pt x="6773291" y="294005"/>
                  </a:cubicBezTo>
                  <a:lnTo>
                    <a:pt x="6773291" y="3597021"/>
                  </a:lnTo>
                  <a:cubicBezTo>
                    <a:pt x="6773291" y="3759454"/>
                    <a:pt x="6641719" y="3891026"/>
                    <a:pt x="6479286" y="3891026"/>
                  </a:cubicBezTo>
                  <a:lnTo>
                    <a:pt x="294005" y="3891026"/>
                  </a:lnTo>
                  <a:cubicBezTo>
                    <a:pt x="131572" y="3890899"/>
                    <a:pt x="0" y="3759327"/>
                    <a:pt x="0" y="3597021"/>
                  </a:cubicBezTo>
                  <a:close/>
                </a:path>
              </a:pathLst>
            </a:custGeom>
            <a:solidFill>
              <a:srgbClr val="17415F"/>
            </a:solidFill>
            <a:ln w="19050" cap="sq">
              <a:solidFill>
                <a:srgbClr val="2D5546"/>
              </a:solidFill>
              <a:prstDash val="solid"/>
              <a:miter/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12388901" y="3581400"/>
            <a:ext cx="440824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>
                <a:solidFill>
                  <a:srgbClr val="88A5C4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388901" y="4505325"/>
            <a:ext cx="4408246" cy="109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6F4EC"/>
                </a:solidFill>
                <a:latin typeface="DM Sans"/>
                <a:ea typeface="DM Sans"/>
                <a:cs typeface="DM Sans"/>
                <a:sym typeface="DM Sans"/>
              </a:rPr>
              <a:t>El árbol binario usa dos enlaces por nodo.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19200" y="7553325"/>
            <a:ext cx="117729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¿Dudas o preguntas?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2692476" y="-1114432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268173" y="3086100"/>
            <a:ext cx="18019827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true">
                <a:solidFill>
                  <a:srgbClr val="17415F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 POR SU ATENCION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DAHXSu0aWoM</dc:identifier>
  <dcterms:modified xsi:type="dcterms:W3CDTF">2011-08-01T06:04:30Z</dcterms:modified>
  <cp:revision>1</cp:revision>
  <dc:title>Blue and Grey Modern Minimalist Presentation</dc:title>
</cp:coreProperties>
</file>